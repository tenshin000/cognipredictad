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92" r:id="rId13"/>
    <p:sldId id="286" r:id="rId14"/>
    <p:sldId id="280" r:id="rId15"/>
    <p:sldId id="290" r:id="rId16"/>
    <p:sldId id="291" r:id="rId17"/>
    <p:sldId id="294" r:id="rId18"/>
    <p:sldId id="296" r:id="rId19"/>
    <p:sldId id="281" r:id="rId20"/>
    <p:sldId id="295" r:id="rId21"/>
    <p:sldId id="301" r:id="rId22"/>
    <p:sldId id="305" r:id="rId23"/>
    <p:sldId id="298" r:id="rId24"/>
    <p:sldId id="311" r:id="rId25"/>
    <p:sldId id="310" r:id="rId26"/>
    <p:sldId id="307" r:id="rId27"/>
    <p:sldId id="283" r:id="rId28"/>
    <p:sldId id="261" r:id="rId29"/>
    <p:sldId id="308" r:id="rId30"/>
    <p:sldId id="276" r:id="rId31"/>
  </p:sldIdLst>
  <p:sldSz cx="12192000" cy="6858000"/>
  <p:notesSz cx="6858000" cy="9144000"/>
  <p:embeddedFontLst>
    <p:embeddedFont>
      <p:font typeface="Play" panose="020B0604020202020204" charset="0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56064262-5F4F-364B-3AEE-D80AFD6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45994FE8-9E37-3280-4887-C8F0F634E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8B453D2-1716-835A-0A04-2C8BB1A68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B8D850B6-9ED9-A5C6-21A2-CA72673457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899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16,420 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phase </a:t>
            </a:r>
            <a:r>
              <a:rPr lang="en-US" sz="2400" dirty="0"/>
              <a:t>concentrates on converting the visit-centric csv file into a single-row-per-subject, analysis-ready baseline cohort and on producing compact, multimodal feature tables for modelling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912378" y="5285374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arbitrarily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5991013" y="4523493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892246" y="4523493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869851" y="5391133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 and binary mapping (PTGENDER: Male=1, Female=0).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FDBCA41B-D638-B66A-65F1-E6193318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5221D6E3-990A-4E42-AD6D-EA15303E10CD}"/>
              </a:ext>
            </a:extLst>
          </p:cNvPr>
          <p:cNvSpPr txBox="1"/>
          <p:nvPr/>
        </p:nvSpPr>
        <p:spPr>
          <a:xfrm>
            <a:off x="1034026" y="560898"/>
            <a:ext cx="613188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Outlier Detection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B080845D-67F5-5CDE-AFCE-ACA6D1FA0404}"/>
              </a:ext>
            </a:extLst>
          </p:cNvPr>
          <p:cNvSpPr txBox="1"/>
          <p:nvPr/>
        </p:nvSpPr>
        <p:spPr>
          <a:xfrm>
            <a:off x="136034" y="1579301"/>
            <a:ext cx="7104521" cy="182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IQR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each column to find outliers and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remove problematic outliers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create groups of </a:t>
            </a:r>
            <a:r>
              <a:rPr lang="en-US" sz="1800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columns (Cognitive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Score, MRI/ICV, CSF/ABETA), apply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LOF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the normalized data 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RobustScaler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find outliers and </a:t>
            </a:r>
            <a:r>
              <a:rPr lang="en-US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analyze them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FDA3671B-00C8-CC1B-3165-1D17E5B657C0}"/>
              </a:ext>
            </a:extLst>
          </p:cNvPr>
          <p:cNvSpPr txBox="1"/>
          <p:nvPr/>
        </p:nvSpPr>
        <p:spPr>
          <a:xfrm>
            <a:off x="8449143" y="6190031"/>
            <a:ext cx="277832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 the </a:t>
            </a:r>
            <a:r>
              <a:rPr lang="en-US" sz="1000" u="sng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 section</a:t>
            </a: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to swap this figure</a:t>
            </a:r>
            <a:endParaRPr lang="en-US" noProof="0" dirty="0">
              <a:solidFill>
                <a:schemeClr val="l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FB5C262-5E45-8686-6F0E-35BF3FEF4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861" y="0"/>
            <a:ext cx="4858139" cy="34002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DEC53112-1BA2-2449-F5D6-35C525517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861" y="3481036"/>
            <a:ext cx="4858139" cy="3400211"/>
          </a:xfrm>
          <a:prstGeom prst="rect">
            <a:avLst/>
          </a:prstGeom>
        </p:spPr>
      </p:pic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5B77457A-7A20-8D16-5A66-B75D03A6A1B2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4" name="Google Shape;166;p6">
            <a:extLst>
              <a:ext uri="{FF2B5EF4-FFF2-40B4-BE49-F238E27FC236}">
                <a16:creationId xmlns:a16="http://schemas.microsoft.com/office/drawing/2014/main" id="{9545ED1C-268D-AA4D-B18C-533632427E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A1D0CAA0-557C-06CA-719E-E99221164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4306" y="3523082"/>
            <a:ext cx="4149555" cy="3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96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train. It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840816" y="1371600"/>
            <a:ext cx="10423568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Biomarker raw values replaced by ratios: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TAU/ABETA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PTAU/ABETA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MRI are normalized by ICV: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and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mPACCtrailsB</a:t>
            </a:r>
            <a:r>
              <a:rPr lang="en-US" sz="2000" i="1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were removed because they had a high correlation with other features and their informative value was low</a:t>
            </a:r>
            <a:r>
              <a:rPr lang="en-US" sz="200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compared to correlated features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.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Outcome of reduction: </a:t>
            </a:r>
            <a:r>
              <a:rPr lang="it-IT" sz="2000" dirty="0"/>
              <a:t>The dataset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streamlined</a:t>
            </a:r>
            <a:r>
              <a:rPr lang="it-IT" sz="2000" dirty="0"/>
              <a:t> to key </a:t>
            </a:r>
            <a:r>
              <a:rPr lang="it-IT" sz="2000" dirty="0" err="1"/>
              <a:t>demographic</a:t>
            </a:r>
            <a:r>
              <a:rPr lang="it-IT" sz="2000" dirty="0"/>
              <a:t>, cognitive, CSF, and MRI features, </a:t>
            </a:r>
            <a:r>
              <a:rPr lang="it-IT" sz="2000" dirty="0" err="1"/>
              <a:t>minimizing</a:t>
            </a:r>
            <a:r>
              <a:rPr lang="it-IT" sz="2000" dirty="0"/>
              <a:t> </a:t>
            </a:r>
            <a:r>
              <a:rPr lang="it-IT" sz="2000" dirty="0" err="1"/>
              <a:t>noise</a:t>
            </a:r>
            <a:r>
              <a:rPr lang="it-IT" sz="2000" dirty="0"/>
              <a:t> and </a:t>
            </a:r>
            <a:r>
              <a:rPr lang="it-IT" sz="2000" dirty="0" err="1"/>
              <a:t>redundancy</a:t>
            </a:r>
            <a:r>
              <a:rPr lang="it-IT" sz="2000" dirty="0"/>
              <a:t>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preserving</a:t>
            </a:r>
            <a:r>
              <a:rPr lang="it-IT" sz="2000" dirty="0"/>
              <a:t> </a:t>
            </a:r>
            <a:r>
              <a:rPr lang="it-IT" sz="2000" dirty="0" err="1"/>
              <a:t>diagnostic</a:t>
            </a:r>
            <a:r>
              <a:rPr lang="it-IT" sz="2000" dirty="0"/>
              <a:t> information.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focused</a:t>
            </a:r>
            <a:r>
              <a:rPr lang="it-IT" sz="2000" dirty="0"/>
              <a:t> baseline </a:t>
            </a:r>
            <a:r>
              <a:rPr lang="it-IT" sz="2000" dirty="0" err="1"/>
              <a:t>table</a:t>
            </a:r>
            <a:r>
              <a:rPr lang="it-IT" sz="2000" dirty="0"/>
              <a:t> </a:t>
            </a:r>
            <a:r>
              <a:rPr lang="it-IT" sz="2000" dirty="0" err="1"/>
              <a:t>enhances</a:t>
            </a:r>
            <a:r>
              <a:rPr lang="it-IT" sz="2000" dirty="0"/>
              <a:t> model </a:t>
            </a:r>
            <a:r>
              <a:rPr lang="it-IT" sz="2000" dirty="0" err="1"/>
              <a:t>interpretability</a:t>
            </a:r>
            <a:r>
              <a:rPr lang="it-IT" sz="2000" dirty="0"/>
              <a:t>, </a:t>
            </a:r>
            <a:r>
              <a:rPr lang="it-IT" sz="2000" dirty="0" err="1"/>
              <a:t>prevents</a:t>
            </a:r>
            <a:r>
              <a:rPr lang="it-IT" sz="2000" dirty="0"/>
              <a:t> data leakage, and </a:t>
            </a:r>
            <a:r>
              <a:rPr lang="it-IT" sz="2000" dirty="0" err="1"/>
              <a:t>provides</a:t>
            </a:r>
            <a:r>
              <a:rPr lang="it-IT" sz="2000" dirty="0"/>
              <a:t> a </a:t>
            </a:r>
            <a:r>
              <a:rPr lang="it-IT" sz="2000" dirty="0" err="1"/>
              <a:t>robust</a:t>
            </a:r>
            <a:r>
              <a:rPr lang="it-IT" sz="2000" dirty="0"/>
              <a:t> </a:t>
            </a:r>
            <a:r>
              <a:rPr lang="it-IT" sz="2000" dirty="0" err="1"/>
              <a:t>foundation</a:t>
            </a:r>
            <a:r>
              <a:rPr lang="it-IT" sz="2000" dirty="0"/>
              <a:t> for </a:t>
            </a:r>
            <a:r>
              <a:rPr lang="it-IT" sz="2000" dirty="0" err="1"/>
              <a:t>multiclass</a:t>
            </a:r>
            <a:r>
              <a:rPr lang="it-IT" sz="2000" dirty="0"/>
              <a:t> </a:t>
            </a:r>
            <a:r>
              <a:rPr lang="it-IT" sz="2000" dirty="0" err="1"/>
              <a:t>classification</a:t>
            </a:r>
            <a:r>
              <a:rPr lang="it-IT" sz="2000" dirty="0"/>
              <a:t>. 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Adaptive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built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training set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evaluate 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5-fold-cross validation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Wilcoxon test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46099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 (on Test set)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9;p15">
            <a:extLst>
              <a:ext uri="{FF2B5EF4-FFF2-40B4-BE49-F238E27FC236}">
                <a16:creationId xmlns:a16="http://schemas.microsoft.com/office/drawing/2014/main" id="{85B5BE90-94A7-ED97-828F-62481FB36969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5" name="Google Shape;290;p15">
            <a:extLst>
              <a:ext uri="{FF2B5EF4-FFF2-40B4-BE49-F238E27FC236}">
                <a16:creationId xmlns:a16="http://schemas.microsoft.com/office/drawing/2014/main" id="{2DFD7AC6-B23E-8F89-E5E5-9E626693B9E6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50" name="Picture 2" descr="No description has been provided for this image">
            <a:extLst>
              <a:ext uri="{FF2B5EF4-FFF2-40B4-BE49-F238E27FC236}">
                <a16:creationId xmlns:a16="http://schemas.microsoft.com/office/drawing/2014/main" id="{D7FCA212-DAC7-523A-6495-CC5580242D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description has been provided for this image">
            <a:extLst>
              <a:ext uri="{FF2B5EF4-FFF2-40B4-BE49-F238E27FC236}">
                <a16:creationId xmlns:a16="http://schemas.microsoft.com/office/drawing/2014/main" id="{1305918A-7335-D13C-6796-BE80D50D3FE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o description has been provided for this image">
            <a:extLst>
              <a:ext uri="{FF2B5EF4-FFF2-40B4-BE49-F238E27FC236}">
                <a16:creationId xmlns:a16="http://schemas.microsoft.com/office/drawing/2014/main" id="{E6E1B67E-E8D2-7F3D-21DB-774810DACA6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No description has been provided for this image">
            <a:extLst>
              <a:ext uri="{FF2B5EF4-FFF2-40B4-BE49-F238E27FC236}">
                <a16:creationId xmlns:a16="http://schemas.microsoft.com/office/drawing/2014/main" id="{866475AF-BDFC-EB5A-F56A-C9C92E0D046C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423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mPACCdigit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885002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885002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2,419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2474</Words>
  <Application>Microsoft Office PowerPoint</Application>
  <PresentationFormat>Widescreen</PresentationFormat>
  <Paragraphs>454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Roboto</vt:lpstr>
      <vt:lpstr>Play</vt:lpstr>
      <vt:lpstr>Calibri</vt:lpstr>
      <vt:lpstr>Arial</vt:lpstr>
      <vt:lpstr>Courier New</vt:lpstr>
      <vt:lpstr>Roboto Medium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95</cp:revision>
  <dcterms:created xsi:type="dcterms:W3CDTF">2024-05-22T15:10:34Z</dcterms:created>
  <dcterms:modified xsi:type="dcterms:W3CDTF">2025-11-19T10:43:43Z</dcterms:modified>
</cp:coreProperties>
</file>
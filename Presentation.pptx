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63" r:id="rId4"/>
    <p:sldId id="285" r:id="rId5"/>
    <p:sldId id="260" r:id="rId6"/>
    <p:sldId id="279" r:id="rId7"/>
    <p:sldId id="284" r:id="rId8"/>
    <p:sldId id="287" r:id="rId9"/>
    <p:sldId id="288" r:id="rId10"/>
    <p:sldId id="309" r:id="rId11"/>
    <p:sldId id="289" r:id="rId12"/>
    <p:sldId id="292" r:id="rId13"/>
    <p:sldId id="286" r:id="rId14"/>
    <p:sldId id="280" r:id="rId15"/>
    <p:sldId id="290" r:id="rId16"/>
    <p:sldId id="291" r:id="rId17"/>
    <p:sldId id="294" r:id="rId18"/>
    <p:sldId id="296" r:id="rId19"/>
    <p:sldId id="281" r:id="rId20"/>
    <p:sldId id="295" r:id="rId21"/>
    <p:sldId id="301" r:id="rId22"/>
    <p:sldId id="305" r:id="rId23"/>
    <p:sldId id="298" r:id="rId24"/>
    <p:sldId id="311" r:id="rId25"/>
    <p:sldId id="310" r:id="rId26"/>
    <p:sldId id="307" r:id="rId27"/>
    <p:sldId id="283" r:id="rId28"/>
    <p:sldId id="261" r:id="rId29"/>
    <p:sldId id="308" r:id="rId30"/>
    <p:sldId id="276" r:id="rId31"/>
  </p:sldIdLst>
  <p:sldSz cx="12192000" cy="6858000"/>
  <p:notesSz cx="6858000" cy="9144000"/>
  <p:embeddedFontLst>
    <p:embeddedFont>
      <p:font typeface="Play" panose="020B0604020202020204" charset="0"/>
      <p:regular r:id="rId33"/>
      <p:bold r:id="rId34"/>
    </p:embeddedFont>
    <p:embeddedFont>
      <p:font typeface="Roboto" panose="02000000000000000000" pitchFamily="2" charset="0"/>
      <p:regular r:id="rId35"/>
      <p:bold r:id="rId36"/>
      <p:italic r:id="rId37"/>
      <p:boldItalic r:id="rId38"/>
    </p:embeddedFont>
    <p:embeddedFont>
      <p:font typeface="Roboto Medium" panose="02000000000000000000" pitchFamily="2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6">
          <p15:clr>
            <a:srgbClr val="A4A3A4"/>
          </p15:clr>
        </p15:guide>
        <p15:guide id="2" pos="370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731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3" roundtripDataSignature="AMtx7mjwiTGL8P6MkGzLtFLYmbztPPfd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Stile con tema 1 - Color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82" d="100"/>
          <a:sy n="82" d="100"/>
        </p:scale>
        <p:origin x="360" y="96"/>
      </p:cViewPr>
      <p:guideLst>
        <p:guide orient="horz" pos="346"/>
        <p:guide pos="370"/>
        <p:guide orient="horz" pos="3974"/>
        <p:guide pos="7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‹N›</a:t>
            </a:fld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E9C8F-8D8D-48DA-2FAE-73C4CAFE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B6DF2DC-D2BD-3116-9E80-5F5E8954C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B5F74FF-9DD2-AB81-5C39-DFF896C0A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A4E0A17D-6A1B-7193-7B6F-50D9178B6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63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48710F89-B061-3BD5-A113-41A94115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A281E589-DC15-C7CD-279B-4E7B21365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74A17E39-EBF3-91B2-BF71-66D596B5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45B362DA-EF59-2FF6-BFAE-C3DC6D538B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852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2A7ED070-9051-309D-FB75-7A1E0A015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F270BA2-A645-CF84-80CD-81A66536F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E293752E-CEE3-B423-19F3-55361712C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15AD853-1903-067C-1404-E76F9ED89E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180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5B1FAD5-DC6B-3316-246A-A2EE1326B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16C7ED2E-DE0A-6152-1343-D146793DF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6DB7EBAC-CC51-B181-FC72-7B560B737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45CCE248-715C-1BE7-02EB-28DF35B5B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694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FE62618-7255-D14D-FC7A-C5E04D33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FF25C99-6A4A-129C-877C-B29803493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9AA41FB4-1AC2-3D40-3816-1C89C2D65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B267B76-8F11-9E56-0719-F942AB26C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05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A98AFA-3EA1-518E-D76B-AB7637AC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76B92524-E4A3-DFA0-BA85-6E2E7DF47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C0B4864-3224-81EA-E291-5B6F29901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E34003F5-FBDE-F365-594F-A075B2AC62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714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822C08FB-67FC-197A-FED0-89248E1D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83B0E6A0-A8B0-E227-4F5A-ED5270EB8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CC6FB21A-2650-CFC5-A643-F70460F007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D1F8256B-8AB7-4CB2-D2EA-C18BEE9C2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463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56064262-5F4F-364B-3AEE-D80AFD6A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45994FE8-9E37-3280-4887-C8F0F634E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8B453D2-1716-835A-0A04-2C8BB1A68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B8D850B6-9ED9-A5C6-21A2-CA72673457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0899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9BE66570-1E4F-C197-7CBF-D7011352C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>
            <a:extLst>
              <a:ext uri="{FF2B5EF4-FFF2-40B4-BE49-F238E27FC236}">
                <a16:creationId xmlns:a16="http://schemas.microsoft.com/office/drawing/2014/main" id="{BC755E66-2A62-BED7-AFD7-1995022B5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3:notes">
            <a:extLst>
              <a:ext uri="{FF2B5EF4-FFF2-40B4-BE49-F238E27FC236}">
                <a16:creationId xmlns:a16="http://schemas.microsoft.com/office/drawing/2014/main" id="{138FDFA7-36DE-C195-5ED2-89B19175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57" name="Google Shape;257;p13:notes">
            <a:extLst>
              <a:ext uri="{FF2B5EF4-FFF2-40B4-BE49-F238E27FC236}">
                <a16:creationId xmlns:a16="http://schemas.microsoft.com/office/drawing/2014/main" id="{DF891A1D-873D-BF45-B06F-A75EE34D78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3367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EE48E22-DE74-0B83-B99A-C11CEFAA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133C736E-C4FD-CA60-7440-FAA045268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0159C628-2B0A-3270-666D-1780B2265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E8192C88-AD2B-4F54-4F52-424F79373A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1063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38B380F-85C8-F37F-CA4E-47F58624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CCE087E5-93AE-08DB-2722-D908C23964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FDDF2DFB-6685-3524-C6D0-4AB951A54A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5B033527-091D-00E9-75A8-AA199A4217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3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F010C99-7510-C855-699A-9581DE48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>
            <a:extLst>
              <a:ext uri="{FF2B5EF4-FFF2-40B4-BE49-F238E27FC236}">
                <a16:creationId xmlns:a16="http://schemas.microsoft.com/office/drawing/2014/main" id="{F9C44EED-6FA6-F2EB-340F-B1079D207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7:notes">
            <a:extLst>
              <a:ext uri="{FF2B5EF4-FFF2-40B4-BE49-F238E27FC236}">
                <a16:creationId xmlns:a16="http://schemas.microsoft.com/office/drawing/2014/main" id="{193D5959-757E-720B-F237-3691A21CB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81EA700-D767-6AA9-08D3-FEDBA682FA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5516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CBB6C7-10D7-FB3D-95B2-AC53BDD5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7BA49BB-964A-0466-BF3C-D664DEF06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A004E88-9093-0EF8-5E08-370CFA0B62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BA177FDA-185C-C003-E960-FD904B80C5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04924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28E3F097-1831-1E87-322E-C18715D0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CBA48FD4-4943-256F-4F00-55230EFE5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561BC727-9C7E-D647-2E0B-49059AF98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E4E00EBA-40FB-47B6-8B32-568B1D59B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5381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8DEC2E4-AD1D-253F-56CF-74E6D052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9C298E83-CAA3-C592-34BC-86968434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21E86590-4399-484E-D6C2-EF35DEAE9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732C417C-7606-89CC-1451-B71C5266A3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2027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D7868-C68D-C9AB-AF19-8E3D45C72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857795F-BF1E-2B81-4910-CCB65FBD7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486236FC-48C0-F934-6F0D-89227E519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8EC3E56-3029-39A3-FB85-D6C7A73A2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44714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FEE799D-F596-A73A-C965-EDD29E032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BE630B4A-FDD8-4D9F-966F-359A357A3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BBE64FD6-98A8-12ED-24E2-6E22311BA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37143F2F-9735-ED27-C372-FBA9FB1FA7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134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1F5587A-BA00-8930-EE7F-E1F93E66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62371759-6AB3-F1E5-07E0-5AA62DA6C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B748549A-6CAF-FFF8-6667-400B4E722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8039B1BF-9D0E-9533-0EAB-EB19DF1F98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91063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A37CA78-9DBA-71E1-6D56-78A39A5D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76B5D34-702E-AE50-FE13-F05131D76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0E7CCDB-9381-E1DA-F7A2-F1BFF72A6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BB418C6-899B-DB60-767F-6DF89785E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38084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19328D7B-A3AE-7B9B-0656-D4F0723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7C505E3-E7B1-7729-667D-34BC199B5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CDFAED86-A679-4630-FA53-95520701C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014D7A8C-28C2-BCBC-ACB0-43F4942FF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375172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7FEAF929-338E-AB69-69F5-B8BFCC50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ED4D3568-5B87-7DD7-1075-C7BDAFE59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C5CBA502-BF22-F5DA-F52E-C9B6B2942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2DBB8280-5619-7332-0B78-E2774509A9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800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B96EF89D-6D97-B786-FD94-C3FF4A80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CD870213-42F1-2927-B988-6A09F2BD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BA13C308-0372-C618-F439-7A21351EF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C9931064-5A25-62A0-B91A-8D65956B4A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3992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F007ADA2-C1FA-0484-30B5-FBC17C0E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DAD7F5F2-1C34-22E6-2CC1-56731CA0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AA33934-11DB-E918-B6F4-9B50B283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A649AD9B-6BE2-52FC-5A94-2D02FF21A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70714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348" name="Google Shape;34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ts val="2400"/>
              <a:buNone/>
              <a:defRPr sz="24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2000"/>
              <a:buNone/>
              <a:defRPr sz="2000">
                <a:solidFill>
                  <a:srgbClr val="78787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 sz="1800">
                <a:solidFill>
                  <a:srgbClr val="78787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6" name="Google Shape;56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descr="Nerve outlin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375" y="54927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273175" y="549275"/>
            <a:ext cx="3534799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</a:pPr>
            <a:r>
              <a: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University of Pisa </a:t>
            </a:r>
          </a:p>
          <a:p>
            <a:pPr lvl="0">
              <a:buClr>
                <a:schemeClr val="lt1"/>
              </a:buClr>
              <a:buSzPts val="1400"/>
            </a:pPr>
            <a:r>
              <a:rPr lang="en-US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Department of Information Engineering</a:t>
            </a:r>
            <a:b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Artificial Intelligence and Data Engineering</a:t>
            </a:r>
            <a:endParaRPr lang="en-US" sz="1400" b="0" i="0" u="none" strike="noStrike" cap="none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30275" y="191099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7374" y="2994060"/>
            <a:ext cx="758906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Roboto Medium"/>
              <a:buNone/>
            </a:pPr>
            <a:r>
              <a:rPr lang="en-US" sz="4000" b="1" i="0" u="none" strike="noStrike" cap="none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CogniPredictAD</a:t>
            </a:r>
            <a:endParaRPr lang="en-US" noProof="0" dirty="0"/>
          </a:p>
        </p:txBody>
      </p:sp>
      <p:sp>
        <p:nvSpPr>
          <p:cNvPr id="93" name="Google Shape;93;p1"/>
          <p:cNvSpPr txBox="1"/>
          <p:nvPr/>
        </p:nvSpPr>
        <p:spPr>
          <a:xfrm>
            <a:off x="589943" y="4792434"/>
            <a:ext cx="3345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i="0" u="none" strike="noStrike" cap="none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Francesco Panattoni</a:t>
            </a:r>
            <a:endParaRPr lang="en-US" noProof="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4658509" y="4792434"/>
            <a:ext cx="52046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Project for Data Mining and Machine Learning</a:t>
            </a:r>
            <a:endParaRPr lang="en-US" noProof="0" dirty="0"/>
          </a:p>
        </p:txBody>
      </p:sp>
      <p:pic>
        <p:nvPicPr>
          <p:cNvPr id="97" name="Google Shape;97;p1" descr="A group of purple and blue neuron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56403">
            <a:off x="6814235" y="442934"/>
            <a:ext cx="6541361" cy="4578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Unipi • 120g">
            <a:extLst>
              <a:ext uri="{FF2B5EF4-FFF2-40B4-BE49-F238E27FC236}">
                <a16:creationId xmlns:a16="http://schemas.microsoft.com/office/drawing/2014/main" id="{6C8A607F-ABE9-7285-F0AF-3EFF3BA8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294" y="5161725"/>
            <a:ext cx="1680706" cy="168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22605" y="1981310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422605" y="3014839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22605" y="4048368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22605" y="5081897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422605" y="947781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3"/>
          <p:cNvSpPr txBox="1">
            <a:spLocks noGrp="1"/>
          </p:cNvSpPr>
          <p:nvPr>
            <p:ph type="title"/>
          </p:nvPr>
        </p:nvSpPr>
        <p:spPr>
          <a:xfrm>
            <a:off x="587375" y="2988788"/>
            <a:ext cx="4510026" cy="880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Table of Contents</a:t>
            </a:r>
            <a:endParaRPr lang="en-US" noProof="0" dirty="0"/>
          </a:p>
        </p:txBody>
      </p:sp>
      <p:sp>
        <p:nvSpPr>
          <p:cNvPr id="126" name="Google Shape;126;p3"/>
          <p:cNvSpPr txBox="1"/>
          <p:nvPr/>
        </p:nvSpPr>
        <p:spPr>
          <a:xfrm>
            <a:off x="5854058" y="1091747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127" name="Google Shape;127;p3"/>
          <p:cNvSpPr txBox="1"/>
          <p:nvPr/>
        </p:nvSpPr>
        <p:spPr>
          <a:xfrm>
            <a:off x="5854058" y="2119441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128" name="Google Shape;128;p3"/>
          <p:cNvSpPr txBox="1"/>
          <p:nvPr/>
        </p:nvSpPr>
        <p:spPr>
          <a:xfrm>
            <a:off x="5854058" y="3157768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29" name="Google Shape;129;p3"/>
          <p:cNvSpPr txBox="1"/>
          <p:nvPr/>
        </p:nvSpPr>
        <p:spPr>
          <a:xfrm>
            <a:off x="5854058" y="4232015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130" name="Google Shape;130;p3"/>
          <p:cNvSpPr txBox="1"/>
          <p:nvPr/>
        </p:nvSpPr>
        <p:spPr>
          <a:xfrm>
            <a:off x="5854058" y="5223790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31" name="Google Shape;131;p3"/>
          <p:cNvSpPr txBox="1"/>
          <p:nvPr/>
        </p:nvSpPr>
        <p:spPr>
          <a:xfrm>
            <a:off x="6715796" y="1091747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</a:p>
        </p:txBody>
      </p:sp>
      <p:sp>
        <p:nvSpPr>
          <p:cNvPr id="132" name="Google Shape;132;p3"/>
          <p:cNvSpPr txBox="1"/>
          <p:nvPr/>
        </p:nvSpPr>
        <p:spPr>
          <a:xfrm>
            <a:off x="6715796" y="2119441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</a:p>
        </p:txBody>
      </p:sp>
      <p:sp>
        <p:nvSpPr>
          <p:cNvPr id="133" name="Google Shape;133;p3"/>
          <p:cNvSpPr txBox="1"/>
          <p:nvPr/>
        </p:nvSpPr>
        <p:spPr>
          <a:xfrm>
            <a:off x="6715796" y="3157768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134" name="Google Shape;134;p3"/>
          <p:cNvSpPr txBox="1"/>
          <p:nvPr/>
        </p:nvSpPr>
        <p:spPr>
          <a:xfrm>
            <a:off x="6715796" y="4232015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135" name="Google Shape;135;p3"/>
          <p:cNvSpPr txBox="1"/>
          <p:nvPr/>
        </p:nvSpPr>
        <p:spPr>
          <a:xfrm>
            <a:off x="6715796" y="5223790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Application &amp;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Motivations and Clinical Background</a:t>
            </a:r>
            <a:endParaRPr lang="en-US" sz="4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D117CD3A-CBA6-B969-65B4-9FB33532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FEF432C9-B81F-D481-66DE-5D930D652501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52450F24-0465-1D1D-8BE7-81019F969AAC}"/>
              </a:ext>
            </a:extLst>
          </p:cNvPr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Alzheimer’s Disease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4617EEFA-53E8-70D4-29BD-4EA819B6AD03}"/>
              </a:ext>
            </a:extLst>
          </p:cNvPr>
          <p:cNvSpPr txBox="1"/>
          <p:nvPr/>
        </p:nvSpPr>
        <p:spPr>
          <a:xfrm>
            <a:off x="216310" y="1676844"/>
            <a:ext cx="6371101" cy="4631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Alzheimer’s Disease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progressive neurodegenerative disease that affects memory, cognitive function, and daily living skills. It is the most common form of dementia and has no definitive cure.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primarily affects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elderly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its incidence is increasing as the population ages. It has a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significant social, family, and economic impact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requiring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long-term care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Early diagnosis is difficult but crucial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slowing the progression of the disease and improving quality of life.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>
              <a:buClr>
                <a:schemeClr val="dk1"/>
              </a:buClr>
              <a:buSzPts val="2000"/>
            </a:pPr>
            <a:endParaRPr lang="en-US" noProof="0" dirty="0"/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871CA0FD-83E1-643C-EF07-6952530F3A3F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pic>
        <p:nvPicPr>
          <p:cNvPr id="154" name="Google Shape;154;p5" descr="A pink brain with a black background&#10;&#10;Description automatically generated">
            <a:extLst>
              <a:ext uri="{FF2B5EF4-FFF2-40B4-BE49-F238E27FC236}">
                <a16:creationId xmlns:a16="http://schemas.microsoft.com/office/drawing/2014/main" id="{21F19765-7C08-DBAA-8BAC-54696B784D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7077" r="16315"/>
          <a:stretch/>
        </p:blipFill>
        <p:spPr>
          <a:xfrm>
            <a:off x="6420465" y="549275"/>
            <a:ext cx="5508624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7A5DD4E6-D4A1-4446-1A2C-D610510AF92D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782786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So why Machine Learning?</a:t>
            </a:r>
            <a:endParaRPr lang="en-US" noProof="0" dirty="0"/>
          </a:p>
        </p:txBody>
      </p:sp>
      <p:sp>
        <p:nvSpPr>
          <p:cNvPr id="152" name="Google Shape;152;p5"/>
          <p:cNvSpPr txBox="1"/>
          <p:nvPr/>
        </p:nvSpPr>
        <p:spPr>
          <a:xfrm>
            <a:off x="216311" y="1676844"/>
            <a:ext cx="5974804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models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could support doctors in diagnosis by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analyzing large amounts of data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identifying hidden patterns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improving accuracy and speed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is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multifactorial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Machine Learning helps integrate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complex and nonlinear information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They help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personalize clinical pathways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 at-risk patients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before the most serious symptoms appear.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  <p:sp>
        <p:nvSpPr>
          <p:cNvPr id="153" name="Google Shape;153;p5"/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2223587A-DDF1-2E6F-AF3B-947A5CE16FEB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2F5EC75-F230-0CDE-23B1-0640ECCFA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57" y="1370042"/>
            <a:ext cx="5784573" cy="442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AEE865A1-EA5A-E9C8-B87B-D4B58342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5499682-16A8-4CBF-32BC-064A1D5F1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Dataset ADNI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155908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63662A9B-6743-90D6-AE17-91026A94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9B0B4AAA-9678-06A1-62C5-90237B35A98C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8B8E55F-2D53-9C02-0DE7-3B6FDF1B8AF9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7A6A0E82-8CEE-D1E6-C736-4CB49F739A6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1E5220DB-FC70-F2C0-6C1B-046DB1730F59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7474DCBC-4C4C-F038-C6E1-07D378B3BCB7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Neuroimaging Initiative (ADNI)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longitudinal, multicenter, observational study involving over 60 clinical sites in the United States and Canada.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Launched in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2004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divided into the following phases: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(2004–2009),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ADNIGO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(2009–2010),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ADNI2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(2011–2016),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ADNI3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(2016–2022).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the most recent phase of the study, was initiated in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2022.</a:t>
            </a:r>
            <a:endParaRPr lang="en-US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F448F8CD-863F-E6DE-137A-58E3D2152DF4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16,421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rows x 116 columns. </a:t>
            </a:r>
            <a:r>
              <a:rPr lang="en-US" sz="2000" noProof="0" dirty="0"/>
              <a:t>The columns are divided into current visit columns and baseline visit columns (with the "_bl" suffix) to aid quick comparison.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Obtained from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fusion of clinical data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collected during phases ADNI1, ADNIGO, ADNI2 and ADNI3. Unfortunately, the ADNI4 data has not yet been merged.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dataset contains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visits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different patients, with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associated diagnoses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09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CD43260-FF78-E558-6E7D-81467DA1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B11D7A2-6358-E0F6-CE71-A2939873DF35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A0E5EB3-ADFC-EBDE-F173-0510EB31ED90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Features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3E1F364F-2085-D0A2-953B-4AC787834D18}"/>
              </a:ext>
            </a:extLst>
          </p:cNvPr>
          <p:cNvSpPr txBox="1"/>
          <p:nvPr/>
        </p:nvSpPr>
        <p:spPr>
          <a:xfrm>
            <a:off x="587375" y="241498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8BBDEB03-E3BF-853F-A82D-E8772817E2DE}"/>
              </a:ext>
            </a:extLst>
          </p:cNvPr>
          <p:cNvSpPr txBox="1"/>
          <p:nvPr/>
        </p:nvSpPr>
        <p:spPr>
          <a:xfrm>
            <a:off x="852885" y="241539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B8DD0C70-3E6D-FA86-DF28-AEA9BB51E57C}"/>
              </a:ext>
            </a:extLst>
          </p:cNvPr>
          <p:cNvSpPr txBox="1"/>
          <p:nvPr/>
        </p:nvSpPr>
        <p:spPr>
          <a:xfrm>
            <a:off x="284736" y="1668058"/>
            <a:ext cx="11761084" cy="5189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Diagnosis (target)</a:t>
            </a:r>
            <a:r>
              <a:rPr lang="en-US" sz="1800" noProof="0" dirty="0"/>
              <a:t>: DX, DX_bl </a:t>
            </a:r>
            <a:endParaRPr lang="en-US" sz="18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Administrative</a:t>
            </a:r>
            <a:r>
              <a:rPr lang="en-US" sz="1800" noProof="0" dirty="0"/>
              <a:t>: RID, COLPROT, ORIGPROT, PTID, SITE, VISCODE, update_stamp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Timestamps</a:t>
            </a:r>
            <a:r>
              <a:rPr lang="en-US" sz="1800" noProof="0" dirty="0"/>
              <a:t>: EXAMDATE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Demographics</a:t>
            </a:r>
            <a:r>
              <a:rPr lang="en-US" sz="1800" noProof="0" dirty="0"/>
              <a:t>: AGE, PTGENDER, PTEDUCAT, PTETHCAT, PTRACCAT, PTMARRY, APOE4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PET Imaging</a:t>
            </a:r>
            <a:r>
              <a:rPr lang="en-US" sz="1800" noProof="0" dirty="0"/>
              <a:t>: FDG, PIB, AV45, FBB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CSF Biomarkers</a:t>
            </a:r>
            <a:r>
              <a:rPr lang="en-US" sz="1800" noProof="0" dirty="0"/>
              <a:t>: ABETA, TAU, PTAU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Clinical Scores</a:t>
            </a:r>
            <a:r>
              <a:rPr lang="en-US" sz="1800" noProof="0" dirty="0"/>
              <a:t>: CDRSB, ADAS11, ADAS13, ADASQ4, MMSE, RAVLT_immediate, RAVLT_learning, RAVLT_forgetting, RAVLT_perc_forgetting, LDELTOTAL, DIGITSCOR, TRABSCOR, FAQ, MOCA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(self-report)</a:t>
            </a:r>
            <a:r>
              <a:rPr lang="en-US" sz="1800" noProof="0" dirty="0"/>
              <a:t>: EcogPtMem, EcogPtLang, EcogPtVisspat, EcogPtPlan, EcogPtOrgan, EcogPtDivatt, EcogPtTotal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(informant-report)</a:t>
            </a:r>
            <a:r>
              <a:rPr lang="en-US" sz="1800" noProof="0" dirty="0"/>
              <a:t>: EcogSPMem, EcogSPLang, EcogSPVisspat, EcogSPPlan, EcogSPOrgan, EcogSPDivatt, EcogSPTotal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MRI Imaging</a:t>
            </a:r>
            <a:r>
              <a:rPr lang="en-US" sz="1800" noProof="0" dirty="0"/>
              <a:t>: FLDSTRENG, FSVERSION, IMAGEUID, Ventricles, Hippocampus, WholeBrain, Entorhinal, Fusiform, MidTemp, ICV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Composite Scores</a:t>
            </a:r>
            <a:r>
              <a:rPr lang="en-US" sz="1800" noProof="0" dirty="0"/>
              <a:t>: mPACCdigit, mPACCtrailsB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Baseline Values</a:t>
            </a:r>
            <a:r>
              <a:rPr lang="en-US" sz="1800" noProof="0" dirty="0"/>
              <a:t>: all variables with the suffix _bl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 Measures</a:t>
            </a:r>
            <a:r>
              <a:rPr lang="en-US" sz="1800" noProof="0" dirty="0"/>
              <a:t>: Years_bl, Month_bl, Month, M</a:t>
            </a:r>
          </a:p>
          <a:p>
            <a:r>
              <a:rPr lang="en-US" sz="1800" noProof="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25289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4027B066-5C41-DD71-EFF7-B4B9E9FA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B121F8DB-F314-1B9F-0E16-3ECB55EB2F4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9C8B2FF7-3DF8-4F37-730A-862C64BFF9CD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Strengths and Weaknesses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9CF8A17-AA65-CA4A-7119-7B709D9825FD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7A18B8B-0A22-0974-9804-756F7DFEF6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BF8936E-B46D-8897-02C1-EE51C65F9A9C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Strengths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groups demographic, cognitive, imaging (MRI, PET) and CSF biomarker data into a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single large dataset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for integrated analyses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Rigorous post-data acquisition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correction procedures, which reduce technical variability and increase the statistical reliability of the features;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One of the most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widely used datasets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Alzheimer's disease research, with well-documented protocols and support for harmonization and comparative studies.</a:t>
            </a:r>
            <a:endParaRPr lang="en-US" sz="1200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721E36E7-8728-98A9-2F5A-94C1BDAFF809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Weaknesses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variables have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missing values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missingness varies depending on the diagnosis or phase of the visit, so it is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Missing Completely at Random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Participants are predominantly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white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educated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motivated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married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reducing their representativeness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 the general population.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features are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correlated or duplicated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increasing computational complexity and the risk of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overfitting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ML models.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64677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11C1EE4-1FE7-E4D6-5B5E-63F6718A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F81C054-0AAE-A2FC-B54D-17B44B9C0CE4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5B8E5C6-49A9-1CB0-C5FE-F13463D04364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7BCD769C-B6FC-9575-99E6-E7FEA3D6332C}"/>
              </a:ext>
            </a:extLst>
          </p:cNvPr>
          <p:cNvSpPr txBox="1"/>
          <p:nvPr/>
        </p:nvSpPr>
        <p:spPr>
          <a:xfrm>
            <a:off x="345233" y="3222666"/>
            <a:ext cx="11271380" cy="326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Preparation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involves building the </a:t>
            </a:r>
            <a:r>
              <a:rPr lang="en-US" sz="24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learning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the original ADNIMERGE table file.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dirty="0"/>
              <a:t>This phase focuses on transforming the visit-centric CSV into a single-row-per-subject baseline cohort and generating compact, multimodal feature tables suitable for modeling. </a:t>
            </a:r>
            <a:endParaRPr lang="en-US" sz="24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A26B1627-E1C2-B7A6-4647-D13B98B8322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46BECEAB-0481-BF6B-2EED-65C15F0CB8E3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0955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7601DF91-72E5-AFC0-1DC4-C08FE518F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6F2CC6A9-C189-763B-4C42-184756DFE7D4}"/>
              </a:ext>
            </a:extLst>
          </p:cNvPr>
          <p:cNvCxnSpPr>
            <a:cxnSpLocks/>
          </p:cNvCxnSpPr>
          <p:nvPr/>
        </p:nvCxnSpPr>
        <p:spPr>
          <a:xfrm>
            <a:off x="924877" y="1617883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CF1CB44-EA6F-1A64-5CB8-512B2688CD6A}"/>
              </a:ext>
            </a:extLst>
          </p:cNvPr>
          <p:cNvSpPr txBox="1"/>
          <p:nvPr/>
        </p:nvSpPr>
        <p:spPr>
          <a:xfrm>
            <a:off x="924877" y="60125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28E9D0EF-B126-317E-0326-9BA1F96F5EAA}"/>
              </a:ext>
            </a:extLst>
          </p:cNvPr>
          <p:cNvSpPr/>
          <p:nvPr/>
        </p:nvSpPr>
        <p:spPr>
          <a:xfrm>
            <a:off x="439482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93E82F0-4964-2377-FEA7-FBC79BEE1FE0}"/>
              </a:ext>
            </a:extLst>
          </p:cNvPr>
          <p:cNvSpPr txBox="1"/>
          <p:nvPr/>
        </p:nvSpPr>
        <p:spPr>
          <a:xfrm>
            <a:off x="347158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SMC diagnosis management 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6786F025-AA8E-4410-D96B-9D773B408821}"/>
              </a:ext>
            </a:extLst>
          </p:cNvPr>
          <p:cNvSpPr txBox="1"/>
          <p:nvPr/>
        </p:nvSpPr>
        <p:spPr>
          <a:xfrm>
            <a:off x="3471582" y="2608767"/>
            <a:ext cx="2362159" cy="144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SMC (Subjective Memory Concern) subjects were realigned with DX and finally reclassified as CN, </a:t>
            </a:r>
            <a:r>
              <a:rPr lang="en-US" noProof="0" dirty="0"/>
              <a:t>ensuring consistency with objectively defined diagnostic categories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4585E444-F10B-258A-434C-668C496B2BDD}"/>
              </a:ext>
            </a:extLst>
          </p:cNvPr>
          <p:cNvSpPr/>
          <p:nvPr/>
        </p:nvSpPr>
        <p:spPr>
          <a:xfrm>
            <a:off x="711151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548CF2AB-51C9-0262-684C-EB969321309C}"/>
              </a:ext>
            </a:extLst>
          </p:cNvPr>
          <p:cNvSpPr txBox="1"/>
          <p:nvPr/>
        </p:nvSpPr>
        <p:spPr>
          <a:xfrm>
            <a:off x="618827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Consolidating baseline columns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2FE1625-A6B7-CCF6-5167-8FF87F023F11}"/>
              </a:ext>
            </a:extLst>
          </p:cNvPr>
          <p:cNvSpPr txBox="1"/>
          <p:nvPr/>
        </p:nvSpPr>
        <p:spPr>
          <a:xfrm>
            <a:off x="618827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Clean up duplicates and merge ”baseline” values into visit columns. 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7BD1DE-5FDC-E7B6-E41B-6FDA0328F5AF}"/>
              </a:ext>
            </a:extLst>
          </p:cNvPr>
          <p:cNvSpPr/>
          <p:nvPr/>
        </p:nvSpPr>
        <p:spPr>
          <a:xfrm>
            <a:off x="9828204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5401B277-F2A3-A427-5B42-767046C116B3}"/>
              </a:ext>
            </a:extLst>
          </p:cNvPr>
          <p:cNvSpPr txBox="1"/>
          <p:nvPr/>
        </p:nvSpPr>
        <p:spPr>
          <a:xfrm>
            <a:off x="8904963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Text Category Cleaning</a:t>
            </a:r>
            <a:endParaRPr lang="en-US" sz="200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8E51E97-449A-3477-0727-9BD387B21566}"/>
              </a:ext>
            </a:extLst>
          </p:cNvPr>
          <p:cNvSpPr txBox="1"/>
          <p:nvPr/>
        </p:nvSpPr>
        <p:spPr>
          <a:xfrm>
            <a:off x="8836295" y="2585711"/>
            <a:ext cx="2499494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Features representing ethnicity and social status have been standardized for better readability and to avoid inconsistencies.</a:t>
            </a:r>
            <a:endParaRPr lang="en-US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5DC2D949-3592-7E3E-AA1A-F48E745A7708}"/>
              </a:ext>
            </a:extLst>
          </p:cNvPr>
          <p:cNvSpPr/>
          <p:nvPr/>
        </p:nvSpPr>
        <p:spPr>
          <a:xfrm>
            <a:off x="167813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74C91D1-7BA5-B088-F19B-75444935BABC}"/>
              </a:ext>
            </a:extLst>
          </p:cNvPr>
          <p:cNvSpPr txBox="1"/>
          <p:nvPr/>
        </p:nvSpPr>
        <p:spPr>
          <a:xfrm>
            <a:off x="75489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Selection of baseline visits only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7465199D-643B-1D3B-4933-620EB5F832AB}"/>
              </a:ext>
            </a:extLst>
          </p:cNvPr>
          <p:cNvSpPr txBox="1"/>
          <p:nvPr/>
        </p:nvSpPr>
        <p:spPr>
          <a:xfrm>
            <a:off x="75489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baseline visits were considered (VISCODE == 'bl'), so as to predict the diagnosis based on the information from the first visit.</a:t>
            </a:r>
            <a:endParaRPr lang="en-US" noProof="0" dirty="0"/>
          </a:p>
        </p:txBody>
      </p:sp>
      <p:cxnSp>
        <p:nvCxnSpPr>
          <p:cNvPr id="5" name="Google Shape;232;p12">
            <a:extLst>
              <a:ext uri="{FF2B5EF4-FFF2-40B4-BE49-F238E27FC236}">
                <a16:creationId xmlns:a16="http://schemas.microsoft.com/office/drawing/2014/main" id="{870170E1-74F9-7E0B-45EB-34A1B42EA5A5}"/>
              </a:ext>
            </a:extLst>
          </p:cNvPr>
          <p:cNvCxnSpPr>
            <a:cxnSpLocks/>
          </p:cNvCxnSpPr>
          <p:nvPr/>
        </p:nvCxnSpPr>
        <p:spPr>
          <a:xfrm>
            <a:off x="924877" y="4483846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" name="Google Shape;236;p12">
            <a:extLst>
              <a:ext uri="{FF2B5EF4-FFF2-40B4-BE49-F238E27FC236}">
                <a16:creationId xmlns:a16="http://schemas.microsoft.com/office/drawing/2014/main" id="{1C2F4221-9F32-407C-228D-621CAA3B156A}"/>
              </a:ext>
            </a:extLst>
          </p:cNvPr>
          <p:cNvSpPr/>
          <p:nvPr/>
        </p:nvSpPr>
        <p:spPr>
          <a:xfrm>
            <a:off x="439482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lang="en-US" noProof="0" dirty="0"/>
          </a:p>
        </p:txBody>
      </p:sp>
      <p:sp>
        <p:nvSpPr>
          <p:cNvPr id="7" name="Google Shape;237;p12">
            <a:extLst>
              <a:ext uri="{FF2B5EF4-FFF2-40B4-BE49-F238E27FC236}">
                <a16:creationId xmlns:a16="http://schemas.microsoft.com/office/drawing/2014/main" id="{B8CB28DA-D576-82B1-72F2-5A1E32AA45B0}"/>
              </a:ext>
            </a:extLst>
          </p:cNvPr>
          <p:cNvSpPr txBox="1"/>
          <p:nvPr/>
        </p:nvSpPr>
        <p:spPr>
          <a:xfrm>
            <a:off x="3234338" y="4604947"/>
            <a:ext cx="2756676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Preliminary Feature Reduction</a:t>
            </a:r>
            <a:endParaRPr lang="en-US" sz="2000" dirty="0"/>
          </a:p>
        </p:txBody>
      </p:sp>
      <p:sp>
        <p:nvSpPr>
          <p:cNvPr id="8" name="Google Shape;238;p12">
            <a:extLst>
              <a:ext uri="{FF2B5EF4-FFF2-40B4-BE49-F238E27FC236}">
                <a16:creationId xmlns:a16="http://schemas.microsoft.com/office/drawing/2014/main" id="{88189C71-25F7-874D-A7EC-1AA0DE152DA9}"/>
              </a:ext>
            </a:extLst>
          </p:cNvPr>
          <p:cNvSpPr txBox="1"/>
          <p:nvPr/>
        </p:nvSpPr>
        <p:spPr>
          <a:xfrm>
            <a:off x="5912378" y="5285374"/>
            <a:ext cx="3071221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Clinically implausible values are detected using IQR Method and either clamped, nullified, or set aside for model-aware imputation rather than being corrected. </a:t>
            </a:r>
          </a:p>
          <a:p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Google Shape;239;p12">
            <a:extLst>
              <a:ext uri="{FF2B5EF4-FFF2-40B4-BE49-F238E27FC236}">
                <a16:creationId xmlns:a16="http://schemas.microsoft.com/office/drawing/2014/main" id="{88D5AAB8-076D-3669-A78A-EA3C811B42BD}"/>
              </a:ext>
            </a:extLst>
          </p:cNvPr>
          <p:cNvSpPr/>
          <p:nvPr/>
        </p:nvSpPr>
        <p:spPr>
          <a:xfrm>
            <a:off x="711151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lang="en-US" noProof="0" dirty="0"/>
          </a:p>
        </p:txBody>
      </p:sp>
      <p:sp>
        <p:nvSpPr>
          <p:cNvPr id="10" name="Google Shape;240;p12">
            <a:extLst>
              <a:ext uri="{FF2B5EF4-FFF2-40B4-BE49-F238E27FC236}">
                <a16:creationId xmlns:a16="http://schemas.microsoft.com/office/drawing/2014/main" id="{6343E847-D925-3064-5CBE-CA880B9983C1}"/>
              </a:ext>
            </a:extLst>
          </p:cNvPr>
          <p:cNvSpPr txBox="1"/>
          <p:nvPr/>
        </p:nvSpPr>
        <p:spPr>
          <a:xfrm>
            <a:off x="5991013" y="4523493"/>
            <a:ext cx="271669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Error Correction</a:t>
            </a:r>
            <a:endParaRPr lang="en-US" sz="1800" dirty="0"/>
          </a:p>
        </p:txBody>
      </p:sp>
      <p:sp>
        <p:nvSpPr>
          <p:cNvPr id="11" name="Google Shape;241;p12">
            <a:extLst>
              <a:ext uri="{FF2B5EF4-FFF2-40B4-BE49-F238E27FC236}">
                <a16:creationId xmlns:a16="http://schemas.microsoft.com/office/drawing/2014/main" id="{CFA4CEC1-C81D-3670-689F-0EB0047DB0AB}"/>
              </a:ext>
            </a:extLst>
          </p:cNvPr>
          <p:cNvSpPr txBox="1"/>
          <p:nvPr/>
        </p:nvSpPr>
        <p:spPr>
          <a:xfrm>
            <a:off x="3431596" y="5411855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columns not relevant to the diagnosis.</a:t>
            </a:r>
            <a:endParaRPr lang="en-US" noProof="0" dirty="0"/>
          </a:p>
        </p:txBody>
      </p:sp>
      <p:sp>
        <p:nvSpPr>
          <p:cNvPr id="12" name="Google Shape;242;p12">
            <a:extLst>
              <a:ext uri="{FF2B5EF4-FFF2-40B4-BE49-F238E27FC236}">
                <a16:creationId xmlns:a16="http://schemas.microsoft.com/office/drawing/2014/main" id="{D031A4E3-FE0B-45C2-63F0-745E77A207C3}"/>
              </a:ext>
            </a:extLst>
          </p:cNvPr>
          <p:cNvSpPr/>
          <p:nvPr/>
        </p:nvSpPr>
        <p:spPr>
          <a:xfrm>
            <a:off x="9828204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lang="en-US" noProof="0" dirty="0"/>
          </a:p>
        </p:txBody>
      </p:sp>
      <p:sp>
        <p:nvSpPr>
          <p:cNvPr id="13" name="Google Shape;243;p12">
            <a:extLst>
              <a:ext uri="{FF2B5EF4-FFF2-40B4-BE49-F238E27FC236}">
                <a16:creationId xmlns:a16="http://schemas.microsoft.com/office/drawing/2014/main" id="{CACC8508-2D23-B598-BBFB-DDB7FD7012F1}"/>
              </a:ext>
            </a:extLst>
          </p:cNvPr>
          <p:cNvSpPr txBox="1"/>
          <p:nvPr/>
        </p:nvSpPr>
        <p:spPr>
          <a:xfrm>
            <a:off x="8892246" y="4523493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Holdout Method</a:t>
            </a:r>
            <a:endParaRPr lang="en-US" noProof="0" dirty="0"/>
          </a:p>
        </p:txBody>
      </p:sp>
      <p:sp>
        <p:nvSpPr>
          <p:cNvPr id="14" name="Google Shape;244;p12">
            <a:extLst>
              <a:ext uri="{FF2B5EF4-FFF2-40B4-BE49-F238E27FC236}">
                <a16:creationId xmlns:a16="http://schemas.microsoft.com/office/drawing/2014/main" id="{87497132-584F-5F5F-1B4D-59690F844A1A}"/>
              </a:ext>
            </a:extLst>
          </p:cNvPr>
          <p:cNvSpPr txBox="1"/>
          <p:nvPr/>
        </p:nvSpPr>
        <p:spPr>
          <a:xfrm>
            <a:off x="8869851" y="5391133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Separation of the learning set into training and testing datasets while avoiding leakage.</a:t>
            </a:r>
            <a:endParaRPr lang="en-US" i="1" noProof="0" dirty="0"/>
          </a:p>
        </p:txBody>
      </p:sp>
      <p:sp>
        <p:nvSpPr>
          <p:cNvPr id="15" name="Google Shape;245;p12">
            <a:extLst>
              <a:ext uri="{FF2B5EF4-FFF2-40B4-BE49-F238E27FC236}">
                <a16:creationId xmlns:a16="http://schemas.microsoft.com/office/drawing/2014/main" id="{53EDD690-3E4A-D65E-D1E6-BF036F571AE8}"/>
              </a:ext>
            </a:extLst>
          </p:cNvPr>
          <p:cNvSpPr/>
          <p:nvPr/>
        </p:nvSpPr>
        <p:spPr>
          <a:xfrm>
            <a:off x="167813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lang="en-US" noProof="0" dirty="0"/>
          </a:p>
        </p:txBody>
      </p:sp>
      <p:sp>
        <p:nvSpPr>
          <p:cNvPr id="16" name="Google Shape;246;p12">
            <a:extLst>
              <a:ext uri="{FF2B5EF4-FFF2-40B4-BE49-F238E27FC236}">
                <a16:creationId xmlns:a16="http://schemas.microsoft.com/office/drawing/2014/main" id="{ED0E49A9-455F-8446-193B-12471F8E6429}"/>
              </a:ext>
            </a:extLst>
          </p:cNvPr>
          <p:cNvSpPr txBox="1"/>
          <p:nvPr/>
        </p:nvSpPr>
        <p:spPr>
          <a:xfrm>
            <a:off x="754892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Encoding of categorical variables</a:t>
            </a:r>
            <a:endParaRPr lang="en-US" sz="1800" dirty="0"/>
          </a:p>
        </p:txBody>
      </p:sp>
      <p:sp>
        <p:nvSpPr>
          <p:cNvPr id="17" name="Google Shape;247;p12">
            <a:extLst>
              <a:ext uri="{FF2B5EF4-FFF2-40B4-BE49-F238E27FC236}">
                <a16:creationId xmlns:a16="http://schemas.microsoft.com/office/drawing/2014/main" id="{ECACFBBF-E992-BF13-83CE-FC00D35924E7}"/>
              </a:ext>
            </a:extLst>
          </p:cNvPr>
          <p:cNvSpPr txBox="1"/>
          <p:nvPr/>
        </p:nvSpPr>
        <p:spPr>
          <a:xfrm>
            <a:off x="754892" y="5474729"/>
            <a:ext cx="2362159" cy="120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algn="ctr">
              <a:buClr>
                <a:schemeClr val="dk1"/>
              </a:buClr>
              <a:buSzPts val="1400"/>
            </a:pPr>
            <a:r>
              <a:rPr lang="en-US" dirty="0"/>
              <a:t>One-hot encoding (PTMARRY) and binary mapping (PTGENDER: Male=1, Female=0).</a:t>
            </a:r>
          </a:p>
          <a:p>
            <a:pPr lvl="0" algn="ctr">
              <a:buClr>
                <a:schemeClr val="dk1"/>
              </a:buClr>
              <a:buSzPts val="1400"/>
            </a:pP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E733153-595C-3536-951C-B62CECF71BE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6989FA2E-CC30-23A1-F394-29A6685E9AFC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56697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>
          <a:extLst>
            <a:ext uri="{FF2B5EF4-FFF2-40B4-BE49-F238E27FC236}">
              <a16:creationId xmlns:a16="http://schemas.microsoft.com/office/drawing/2014/main" id="{FDBCA41B-D638-B66A-65F1-E6193318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5221D6E3-990A-4E42-AD6D-EA15303E10CD}"/>
              </a:ext>
            </a:extLst>
          </p:cNvPr>
          <p:cNvSpPr txBox="1"/>
          <p:nvPr/>
        </p:nvSpPr>
        <p:spPr>
          <a:xfrm>
            <a:off x="1034026" y="560898"/>
            <a:ext cx="613188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Outlier Detection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B080845D-67F5-5CDE-AFCE-ACA6D1FA0404}"/>
              </a:ext>
            </a:extLst>
          </p:cNvPr>
          <p:cNvSpPr txBox="1"/>
          <p:nvPr/>
        </p:nvSpPr>
        <p:spPr>
          <a:xfrm>
            <a:off x="136034" y="1579301"/>
            <a:ext cx="7104521" cy="1820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Univariate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IQR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each column to find outliers and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remove problematic outliers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Multivariate Analysis: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create groups of </a:t>
            </a:r>
            <a:r>
              <a:rPr lang="en-US" sz="1800" noProof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columns (Cognitive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Score, MRI/ICV, CSF/ABETA), apply </a:t>
            </a:r>
            <a:r>
              <a:rPr lang="en-US" sz="18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LOF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the normalized data 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RobustScaler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find outliers and </a:t>
            </a:r>
            <a:r>
              <a:rPr lang="en-US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analyze them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11">
            <a:extLst>
              <a:ext uri="{FF2B5EF4-FFF2-40B4-BE49-F238E27FC236}">
                <a16:creationId xmlns:a16="http://schemas.microsoft.com/office/drawing/2014/main" id="{FDA3671B-00C8-CC1B-3165-1D17E5B657C0}"/>
              </a:ext>
            </a:extLst>
          </p:cNvPr>
          <p:cNvSpPr txBox="1"/>
          <p:nvPr/>
        </p:nvSpPr>
        <p:spPr>
          <a:xfrm>
            <a:off x="8449143" y="6190031"/>
            <a:ext cx="277832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Use the </a:t>
            </a:r>
            <a:r>
              <a:rPr lang="en-US" sz="1000" u="sng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Resource section</a:t>
            </a:r>
            <a:r>
              <a:rPr lang="en-US" sz="1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to swap this figure</a:t>
            </a:r>
            <a:endParaRPr lang="en-US" noProof="0" dirty="0">
              <a:solidFill>
                <a:schemeClr val="lt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FB5C262-5E45-8686-6F0E-35BF3FEF4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861" y="0"/>
            <a:ext cx="4858139" cy="340021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DEC53112-1BA2-2449-F5D6-35C525517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861" y="3481036"/>
            <a:ext cx="4858139" cy="3400211"/>
          </a:xfrm>
          <a:prstGeom prst="rect">
            <a:avLst/>
          </a:prstGeom>
        </p:spPr>
      </p:pic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5B77457A-7A20-8D16-5A66-B75D03A6A1B2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4" name="Google Shape;166;p6">
            <a:extLst>
              <a:ext uri="{FF2B5EF4-FFF2-40B4-BE49-F238E27FC236}">
                <a16:creationId xmlns:a16="http://schemas.microsoft.com/office/drawing/2014/main" id="{9545ED1C-268D-AA4D-B18C-533632427E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 descr="No description has been provided for this image">
            <a:extLst>
              <a:ext uri="{FF2B5EF4-FFF2-40B4-BE49-F238E27FC236}">
                <a16:creationId xmlns:a16="http://schemas.microsoft.com/office/drawing/2014/main" id="{A1D0CAA0-557C-06CA-719E-E992211646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4306" y="3523082"/>
            <a:ext cx="4149555" cy="3334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896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8">
          <a:extLst>
            <a:ext uri="{FF2B5EF4-FFF2-40B4-BE49-F238E27FC236}">
              <a16:creationId xmlns:a16="http://schemas.microsoft.com/office/drawing/2014/main" id="{A333D07E-21CA-B5FF-4B4D-CA90DC08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>
            <a:extLst>
              <a:ext uri="{FF2B5EF4-FFF2-40B4-BE49-F238E27FC236}">
                <a16:creationId xmlns:a16="http://schemas.microsoft.com/office/drawing/2014/main" id="{5638B59F-6045-B636-CD45-5FF2C1887DDC}"/>
              </a:ext>
            </a:extLst>
          </p:cNvPr>
          <p:cNvSpPr txBox="1"/>
          <p:nvPr/>
        </p:nvSpPr>
        <p:spPr>
          <a:xfrm>
            <a:off x="197637" y="2255337"/>
            <a:ext cx="5977036" cy="459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DX_bl has 5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SMC: Subjective Memory Concern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</a:p>
          <a:p>
            <a:pPr lvl="2">
              <a:buClr>
                <a:schemeClr val="dk1"/>
              </a:buClr>
              <a:buSzPts val="2000"/>
            </a:pPr>
            <a:endParaRPr lang="en-US" noProof="0" dirty="0"/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 has 3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MCI: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Dementia: Alzheimer’s Disease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create a new DX as our target with this 4 classe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u="none" strike="noStrike" cap="none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205;p10">
            <a:extLst>
              <a:ext uri="{FF2B5EF4-FFF2-40B4-BE49-F238E27FC236}">
                <a16:creationId xmlns:a16="http://schemas.microsoft.com/office/drawing/2014/main" id="{9AAE8C7B-B35B-FD72-1260-8933856DA361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6;p10">
            <a:extLst>
              <a:ext uri="{FF2B5EF4-FFF2-40B4-BE49-F238E27FC236}">
                <a16:creationId xmlns:a16="http://schemas.microsoft.com/office/drawing/2014/main" id="{2DD601CF-2A26-0E0C-DE0B-64B3E5BD3CEF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Multiclass Problem: DX and DX_bl</a:t>
            </a:r>
            <a:endParaRPr lang="en-US" noProof="0" dirty="0"/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F83D4996-CC97-09D2-31EC-55F7C6BFE212}"/>
              </a:ext>
            </a:extLst>
          </p:cNvPr>
          <p:cNvSpPr txBox="1"/>
          <p:nvPr/>
        </p:nvSpPr>
        <p:spPr>
          <a:xfrm>
            <a:off x="587375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32873710-55C5-E862-0475-FF17C46989C7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3640DB-3542-9EB3-DE33-956E7421C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49" y="2255337"/>
            <a:ext cx="5736214" cy="4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8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42A80FFE-8979-3902-D923-59E80B0D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A8022D8F-3FBE-F18C-1300-7F33DB2DA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Preprocessing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3708283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2A7E46F6-858B-4DBD-21E0-96ADEECA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CFE545B1-52A5-0147-27F5-AB13157884F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374AAB58-5F96-58CE-63F8-65BE9616B8CB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Preprocessing</a:t>
            </a:r>
            <a:endParaRPr lang="en-US" noProof="0" dirty="0"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9F49A2F8-2E99-04CB-959F-BA2C95451540}"/>
              </a:ext>
            </a:extLst>
          </p:cNvPr>
          <p:cNvSpPr txBox="1"/>
          <p:nvPr/>
        </p:nvSpPr>
        <p:spPr>
          <a:xfrm>
            <a:off x="1108219" y="2822511"/>
            <a:ext cx="9475032" cy="2794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phase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involves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transforming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make it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suitable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</a:t>
            </a:r>
            <a:r>
              <a:rPr lang="en-U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These operations would risk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leakage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evaluated on the entire dataset. Therefore, they are performed on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modified accordingly to make it consistent, before evaluating the models built on the training dataset. Preprocessing is divided into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Cleaning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Transformation,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Reduction and eventually Hybrid Sampling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EF05F57F-B5D9-5E83-6D4B-E8F6F26E624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E91E3C1D-4E8B-9FF5-69B1-B528F932863D}"/>
              </a:ext>
            </a:extLst>
          </p:cNvPr>
          <p:cNvSpPr txBox="1"/>
          <p:nvPr/>
        </p:nvSpPr>
        <p:spPr>
          <a:xfrm>
            <a:off x="843555" y="549275"/>
            <a:ext cx="213887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49151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2">
          <a:extLst>
            <a:ext uri="{FF2B5EF4-FFF2-40B4-BE49-F238E27FC236}">
              <a16:creationId xmlns:a16="http://schemas.microsoft.com/office/drawing/2014/main" id="{A1124067-CF89-9C20-A971-29019FD8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F0614C04-176B-622C-A914-ACA19DCC8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7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Cleaning</a:t>
            </a:r>
            <a:endParaRPr lang="en-US" noProof="0" dirty="0"/>
          </a:p>
        </p:txBody>
      </p:sp>
      <p:sp>
        <p:nvSpPr>
          <p:cNvPr id="174" name="Google Shape;174;p7">
            <a:extLst>
              <a:ext uri="{FF2B5EF4-FFF2-40B4-BE49-F238E27FC236}">
                <a16:creationId xmlns:a16="http://schemas.microsoft.com/office/drawing/2014/main" id="{29554392-65EE-2C1C-ABAF-822401F0D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7618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Handling missing values:</a:t>
            </a:r>
            <a:br>
              <a:rPr lang="en-US" sz="2400" b="1" noProof="0" dirty="0"/>
            </a:br>
            <a:r>
              <a:rPr lang="en-US" sz="2400" noProof="0" dirty="0"/>
              <a:t>Identifying percentages of missing values and using KNN Imputer for continuous variables.</a:t>
            </a: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>
              <a:solidFill>
                <a:schemeClr val="dk1"/>
              </a:solidFill>
            </a:endParaRP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Numeric Value Conversion:</a:t>
            </a:r>
            <a:br>
              <a:rPr lang="en-US" sz="2400" noProof="0" dirty="0"/>
            </a:br>
            <a:r>
              <a:rPr lang="en-US" sz="2400" noProof="0" dirty="0"/>
              <a:t>Converted nearly all cognitive scales and age from float to int, correcting approximations to imputation or format errors.</a:t>
            </a:r>
            <a:endParaRPr lang="en-US" sz="3200" noProof="0" dirty="0"/>
          </a:p>
        </p:txBody>
      </p:sp>
      <p:sp>
        <p:nvSpPr>
          <p:cNvPr id="175" name="Google Shape;175;p7">
            <a:extLst>
              <a:ext uri="{FF2B5EF4-FFF2-40B4-BE49-F238E27FC236}">
                <a16:creationId xmlns:a16="http://schemas.microsoft.com/office/drawing/2014/main" id="{A3BA086B-C7DD-6BF4-2B70-D1D5EED502DB}"/>
              </a:ext>
            </a:extLst>
          </p:cNvPr>
          <p:cNvSpPr txBox="1"/>
          <p:nvPr/>
        </p:nvSpPr>
        <p:spPr>
          <a:xfrm>
            <a:off x="6476999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Transformation</a:t>
            </a:r>
            <a:endParaRPr lang="en-US" noProof="0" dirty="0"/>
          </a:p>
        </p:txBody>
      </p:sp>
      <p:sp>
        <p:nvSpPr>
          <p:cNvPr id="177" name="Google Shape;177;p7">
            <a:extLst>
              <a:ext uri="{FF2B5EF4-FFF2-40B4-BE49-F238E27FC236}">
                <a16:creationId xmlns:a16="http://schemas.microsoft.com/office/drawing/2014/main" id="{37502D0C-0E0A-677C-5900-0C64DE8BB53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78" name="Google Shape;178;p7">
            <a:extLst>
              <a:ext uri="{FF2B5EF4-FFF2-40B4-BE49-F238E27FC236}">
                <a16:creationId xmlns:a16="http://schemas.microsoft.com/office/drawing/2014/main" id="{9C82D5CF-E217-AC98-3944-B3E8ADC1F5CE}"/>
              </a:ext>
            </a:extLst>
          </p:cNvPr>
          <p:cNvSpPr txBox="1"/>
          <p:nvPr/>
        </p:nvSpPr>
        <p:spPr>
          <a:xfrm>
            <a:off x="843555" y="549275"/>
            <a:ext cx="201660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2" name="Google Shape;174;p7">
            <a:extLst>
              <a:ext uri="{FF2B5EF4-FFF2-40B4-BE49-F238E27FC236}">
                <a16:creationId xmlns:a16="http://schemas.microsoft.com/office/drawing/2014/main" id="{93EAF772-A1FF-50C6-77AF-BEE71BA1E56A}"/>
              </a:ext>
            </a:extLst>
          </p:cNvPr>
          <p:cNvSpPr txBox="1">
            <a:spLocks/>
          </p:cNvSpPr>
          <p:nvPr/>
        </p:nvSpPr>
        <p:spPr>
          <a:xfrm>
            <a:off x="6476999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Creation of new CSF metrics:</a:t>
            </a:r>
            <a:br>
              <a:rPr lang="en-US" sz="2400" noProof="0" dirty="0"/>
            </a:br>
            <a:r>
              <a:rPr lang="en-US" sz="2400" noProof="0" dirty="0"/>
              <a:t>TAU/ABETA and PTAU/ABETA ratios more predictive than single measures according to the literature.</a:t>
            </a:r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/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MRI normalization to ICV: </a:t>
            </a:r>
            <a:br>
              <a:rPr lang="en-US" sz="2400" noProof="0" dirty="0"/>
            </a:br>
            <a:r>
              <a:rPr lang="en-US" sz="2400" noProof="0" dirty="0"/>
              <a:t>Necessary to correct for differences due to gender and cranial size.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450515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46DD6F9D-82F9-7729-432C-F92EF440A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882EB3D1-DE16-2AAA-0884-FA7DEED1C4F3}"/>
              </a:ext>
            </a:extLst>
          </p:cNvPr>
          <p:cNvSpPr txBox="1"/>
          <p:nvPr/>
        </p:nvSpPr>
        <p:spPr>
          <a:xfrm>
            <a:off x="927616" y="720399"/>
            <a:ext cx="10423568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Reduction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2AEDFBEF-AF39-ABD3-30C1-6089C2F8A129}"/>
              </a:ext>
            </a:extLst>
          </p:cNvPr>
          <p:cNvSpPr txBox="1"/>
          <p:nvPr/>
        </p:nvSpPr>
        <p:spPr>
          <a:xfrm>
            <a:off x="840816" y="1371600"/>
            <a:ext cx="10423568" cy="349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Biomarker raw values replaced by ratios: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TAU/ABETA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PTAU/ABETA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MRI are normalized by ICV: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are replaced by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Ventricles/ICV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Hippocampus/ICV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Entorhinal/ICV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Fusiform/ICV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MidTemp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i="1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WholeBrain</a:t>
            </a:r>
            <a:r>
              <a:rPr lang="en-US" sz="2000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/ICV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Removal of redundant features: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ADAS11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ADASQ4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EcogPtTotal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EcogSPTotal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, and </a:t>
            </a:r>
            <a:r>
              <a:rPr lang="en-US" sz="2000" i="1" noProof="0" dirty="0" err="1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mPACCtrailsB</a:t>
            </a:r>
            <a:r>
              <a:rPr lang="en-US" sz="2000" i="1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were removed because they had a high correlation with other features and their informative value was low</a:t>
            </a:r>
            <a:r>
              <a:rPr lang="en-US" sz="200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 compared to correlated features</a:t>
            </a:r>
            <a:r>
              <a:rPr lang="en-US" sz="2000" noProof="0" dirty="0">
                <a:solidFill>
                  <a:schemeClr val="dk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Roboto"/>
              </a:rPr>
              <a:t>.</a:t>
            </a: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Outcome of reduction: </a:t>
            </a:r>
            <a:r>
              <a:rPr lang="it-IT" sz="2000" dirty="0"/>
              <a:t>The dataset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streamlined</a:t>
            </a:r>
            <a:r>
              <a:rPr lang="it-IT" sz="2000" dirty="0"/>
              <a:t> to key </a:t>
            </a:r>
            <a:r>
              <a:rPr lang="it-IT" sz="2000" dirty="0" err="1"/>
              <a:t>demographic</a:t>
            </a:r>
            <a:r>
              <a:rPr lang="it-IT" sz="2000" dirty="0"/>
              <a:t>, cognitive, CSF, and MRI features, </a:t>
            </a:r>
            <a:r>
              <a:rPr lang="it-IT" sz="2000" dirty="0" err="1"/>
              <a:t>minimizing</a:t>
            </a:r>
            <a:r>
              <a:rPr lang="it-IT" sz="2000" dirty="0"/>
              <a:t> </a:t>
            </a:r>
            <a:r>
              <a:rPr lang="it-IT" sz="2000" dirty="0" err="1"/>
              <a:t>noise</a:t>
            </a:r>
            <a:r>
              <a:rPr lang="it-IT" sz="2000" dirty="0"/>
              <a:t> and </a:t>
            </a:r>
            <a:r>
              <a:rPr lang="it-IT" sz="2000" dirty="0" err="1"/>
              <a:t>redundancy</a:t>
            </a:r>
            <a:r>
              <a:rPr lang="it-IT" sz="2000" dirty="0"/>
              <a:t> </a:t>
            </a:r>
            <a:r>
              <a:rPr lang="it-IT" sz="2000" dirty="0" err="1"/>
              <a:t>while</a:t>
            </a:r>
            <a:r>
              <a:rPr lang="it-IT" sz="2000" dirty="0"/>
              <a:t> </a:t>
            </a:r>
            <a:r>
              <a:rPr lang="it-IT" sz="2000" dirty="0" err="1"/>
              <a:t>preserving</a:t>
            </a:r>
            <a:r>
              <a:rPr lang="it-IT" sz="2000" dirty="0"/>
              <a:t> </a:t>
            </a:r>
            <a:r>
              <a:rPr lang="it-IT" sz="2000" dirty="0" err="1"/>
              <a:t>diagnostic</a:t>
            </a:r>
            <a:r>
              <a:rPr lang="it-IT" sz="2000" dirty="0"/>
              <a:t> information. </a:t>
            </a:r>
            <a:r>
              <a:rPr lang="it-IT" sz="2000" dirty="0" err="1"/>
              <a:t>This</a:t>
            </a:r>
            <a:r>
              <a:rPr lang="it-IT" sz="2000" dirty="0"/>
              <a:t> </a:t>
            </a:r>
            <a:r>
              <a:rPr lang="it-IT" sz="2000" dirty="0" err="1"/>
              <a:t>focused</a:t>
            </a:r>
            <a:r>
              <a:rPr lang="it-IT" sz="2000" dirty="0"/>
              <a:t> baseline </a:t>
            </a:r>
            <a:r>
              <a:rPr lang="it-IT" sz="2000" dirty="0" err="1"/>
              <a:t>table</a:t>
            </a:r>
            <a:r>
              <a:rPr lang="it-IT" sz="2000" dirty="0"/>
              <a:t> </a:t>
            </a:r>
            <a:r>
              <a:rPr lang="it-IT" sz="2000" dirty="0" err="1"/>
              <a:t>enhances</a:t>
            </a:r>
            <a:r>
              <a:rPr lang="it-IT" sz="2000" dirty="0"/>
              <a:t> model </a:t>
            </a:r>
            <a:r>
              <a:rPr lang="it-IT" sz="2000" dirty="0" err="1"/>
              <a:t>interpretability</a:t>
            </a:r>
            <a:r>
              <a:rPr lang="it-IT" sz="2000" dirty="0"/>
              <a:t>, </a:t>
            </a:r>
            <a:r>
              <a:rPr lang="it-IT" sz="2000" dirty="0" err="1"/>
              <a:t>prevents</a:t>
            </a:r>
            <a:r>
              <a:rPr lang="it-IT" sz="2000" dirty="0"/>
              <a:t> data leakage, and </a:t>
            </a:r>
            <a:r>
              <a:rPr lang="it-IT" sz="2000" dirty="0" err="1"/>
              <a:t>provides</a:t>
            </a:r>
            <a:r>
              <a:rPr lang="it-IT" sz="2000" dirty="0"/>
              <a:t> a </a:t>
            </a:r>
            <a:r>
              <a:rPr lang="it-IT" sz="2000" dirty="0" err="1"/>
              <a:t>robust</a:t>
            </a:r>
            <a:r>
              <a:rPr lang="it-IT" sz="2000" dirty="0"/>
              <a:t> </a:t>
            </a:r>
            <a:r>
              <a:rPr lang="it-IT" sz="2000" dirty="0" err="1"/>
              <a:t>foundation</a:t>
            </a:r>
            <a:r>
              <a:rPr lang="it-IT" sz="2000" dirty="0"/>
              <a:t> for </a:t>
            </a:r>
            <a:r>
              <a:rPr lang="it-IT" sz="2000" dirty="0" err="1"/>
              <a:t>multiclass</a:t>
            </a:r>
            <a:r>
              <a:rPr lang="it-IT" sz="2000" dirty="0"/>
              <a:t> </a:t>
            </a:r>
            <a:r>
              <a:rPr lang="it-IT" sz="2000" dirty="0" err="1"/>
              <a:t>classification</a:t>
            </a:r>
            <a:r>
              <a:rPr lang="it-IT" sz="2000" dirty="0"/>
              <a:t>. </a:t>
            </a: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EF1BADC0-D82C-A760-803A-0C2A8D81125C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A7FEA7F1-DB28-0A3B-0DEB-9C9F495D2D00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A6C31C-69E8-CD21-D9AE-970863C32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963886"/>
            <a:ext cx="12192000" cy="18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436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48DDFAD5-9E7D-9968-8962-56B7EF77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C43412D2-F3FD-EB28-A743-53BFEF624B64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83FD0948-5936-C86D-459C-EEAA0395974E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Hybrid Sampling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0037AF0-DA9F-CB81-F273-5A982706DEB4}"/>
              </a:ext>
            </a:extLst>
          </p:cNvPr>
          <p:cNvSpPr txBox="1"/>
          <p:nvPr/>
        </p:nvSpPr>
        <p:spPr>
          <a:xfrm>
            <a:off x="503852" y="1875454"/>
            <a:ext cx="6904653" cy="443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overcome class imbalance, we used a combination of:</a:t>
            </a:r>
            <a:endParaRPr lang="en-US" noProof="0" dirty="0"/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Random Under-Sampling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(RUS) to reduce the number of instances in the majority classes (CN and LMCI), preventing the dataset from becoming excessively biased toward synthetic examples;</a:t>
            </a:r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Synthetic Minority Over-Sampling Technique for Nominal and Continuous features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(SMOTENC) to generate new synthetic examples of the minority classes (EMCI and AD). </a:t>
            </a:r>
          </a:p>
          <a:p>
            <a:pPr lvl="0">
              <a:spcBef>
                <a:spcPts val="2200"/>
              </a:spcBef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 another pipeline to evaluate performance on the dataset with and without sampling.</a:t>
            </a:r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42B3FC4-25F8-D917-589E-B8AD47825876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C8AFF13-857D-095F-EAAC-D5DB447E59C8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54142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909395B-83A9-24F1-CDAC-1F851897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5522EAD5-E36A-482C-8A55-98980B14F7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Classification &amp; Results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4179851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06627AC-AAC0-065A-A336-F5178B5F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5880F107-7213-9E92-A118-19BD70403809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4E06775-46C3-F976-0DF9-F34EAACFD3B5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Selection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D410640B-E0B6-AF55-FA66-2051775F1C9F}"/>
              </a:ext>
            </a:extLst>
          </p:cNvPr>
          <p:cNvSpPr txBox="1"/>
          <p:nvPr/>
        </p:nvSpPr>
        <p:spPr>
          <a:xfrm>
            <a:off x="983512" y="1821948"/>
            <a:ext cx="10280873" cy="456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36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selected the following classification models: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Extra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Adaptive Boosting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Multinomial Logistic Regression</a:t>
            </a: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925EA35D-E461-AFFE-1A67-3DED0CD9FC1D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082FC43C-D405-5389-751E-3794A98FA06F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4552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E66F0DDC-A717-F2D5-BD2E-82A37CA2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7132ADFC-2C6C-F529-2FA7-DBDA4BF2678B}"/>
              </a:ext>
            </a:extLst>
          </p:cNvPr>
          <p:cNvCxnSpPr/>
          <p:nvPr/>
        </p:nvCxnSpPr>
        <p:spPr>
          <a:xfrm>
            <a:off x="927615" y="2392324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40A5AD96-5FF7-FF42-3E68-5D915B8B891C}"/>
              </a:ext>
            </a:extLst>
          </p:cNvPr>
          <p:cNvSpPr txBox="1"/>
          <p:nvPr/>
        </p:nvSpPr>
        <p:spPr>
          <a:xfrm>
            <a:off x="843555" y="922130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Construction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D695FCAD-9426-3983-4E4F-AFD7E2AC0097}"/>
              </a:ext>
            </a:extLst>
          </p:cNvPr>
          <p:cNvSpPr/>
          <p:nvPr/>
        </p:nvSpPr>
        <p:spPr>
          <a:xfrm>
            <a:off x="439756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7E23A21E-44A9-0CB9-121E-522683487D11}"/>
              </a:ext>
            </a:extLst>
          </p:cNvPr>
          <p:cNvSpPr txBox="1"/>
          <p:nvPr/>
        </p:nvSpPr>
        <p:spPr>
          <a:xfrm>
            <a:off x="347432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Building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0EFD7F1E-E6F9-0D30-48B4-A1DA20A03808}"/>
              </a:ext>
            </a:extLst>
          </p:cNvPr>
          <p:cNvSpPr txBox="1"/>
          <p:nvPr/>
        </p:nvSpPr>
        <p:spPr>
          <a:xfrm>
            <a:off x="3474320" y="3749371"/>
            <a:ext cx="2362159" cy="1270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Models evaluated with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Repeated Stratified 5×5 Cross-Validation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 compared using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Wilcoxon signed-rank tests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on outer-fold F1-macro scores.</a:t>
            </a:r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320B8AA3-8E34-775E-93AE-2858AB57DE0A}"/>
              </a:ext>
            </a:extLst>
          </p:cNvPr>
          <p:cNvSpPr/>
          <p:nvPr/>
        </p:nvSpPr>
        <p:spPr>
          <a:xfrm>
            <a:off x="711425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3654AC2E-D793-9DD5-E4B4-2B2577B5B52F}"/>
              </a:ext>
            </a:extLst>
          </p:cNvPr>
          <p:cNvSpPr txBox="1"/>
          <p:nvPr/>
        </p:nvSpPr>
        <p:spPr>
          <a:xfrm>
            <a:off x="619101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Explainability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C7D8F46-8D8E-BBC7-0D42-7A5D9991EE28}"/>
              </a:ext>
            </a:extLst>
          </p:cNvPr>
          <p:cNvSpPr txBox="1"/>
          <p:nvPr/>
        </p:nvSpPr>
        <p:spPr>
          <a:xfrm>
            <a:off x="6191010" y="3749371"/>
            <a:ext cx="2362159" cy="143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SHAP Summary Plots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all models to identify which features were most important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overall and by class. Built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trees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rules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Decision Trees.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C24C548E-37E0-299C-F6AF-45F157EDA5C9}"/>
              </a:ext>
            </a:extLst>
          </p:cNvPr>
          <p:cNvSpPr/>
          <p:nvPr/>
        </p:nvSpPr>
        <p:spPr>
          <a:xfrm>
            <a:off x="9830942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64CEF0FC-7EE6-B936-F4BA-41A707025293}"/>
              </a:ext>
            </a:extLst>
          </p:cNvPr>
          <p:cNvSpPr txBox="1"/>
          <p:nvPr/>
        </p:nvSpPr>
        <p:spPr>
          <a:xfrm>
            <a:off x="8907701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Models Final Evaluation</a:t>
            </a:r>
            <a:endParaRPr lang="en-US" noProof="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1C55ABF-FE24-3461-3444-C024C89E5142}"/>
              </a:ext>
            </a:extLst>
          </p:cNvPr>
          <p:cNvSpPr txBox="1"/>
          <p:nvPr/>
        </p:nvSpPr>
        <p:spPr>
          <a:xfrm>
            <a:off x="8907701" y="3749371"/>
            <a:ext cx="2362159" cy="201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evaluated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using </a:t>
            </a:r>
            <a:r>
              <a:rPr lang="en-US" i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Repeated Stratified 5×5 Cross-Validation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as well as using the explainability results.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evaluations primarily considered the statistics on the test dataset.</a:t>
            </a:r>
            <a:endParaRPr lang="en-US" i="1" noProof="0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75E8DD6E-3CD8-3967-CB2F-9BF362FA26BF}"/>
              </a:ext>
            </a:extLst>
          </p:cNvPr>
          <p:cNvSpPr/>
          <p:nvPr/>
        </p:nvSpPr>
        <p:spPr>
          <a:xfrm>
            <a:off x="168087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7368F2ED-2E8B-A884-C83C-DB90AE73B9E8}"/>
              </a:ext>
            </a:extLst>
          </p:cNvPr>
          <p:cNvSpPr txBox="1"/>
          <p:nvPr/>
        </p:nvSpPr>
        <p:spPr>
          <a:xfrm>
            <a:off x="75763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Hyperparameter Tuning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3251E321-4EDB-030E-454C-F8B96EF80410}"/>
              </a:ext>
            </a:extLst>
          </p:cNvPr>
          <p:cNvSpPr txBox="1"/>
          <p:nvPr/>
        </p:nvSpPr>
        <p:spPr>
          <a:xfrm>
            <a:off x="757630" y="3749372"/>
            <a:ext cx="2362159" cy="127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optimize the performance of the classifiers, a Grid Search procedure with 5-fold-cross validation was adopted.</a:t>
            </a:r>
            <a:endParaRPr lang="en-US" noProof="0" dirty="0"/>
          </a:p>
        </p:txBody>
      </p:sp>
      <p:sp>
        <p:nvSpPr>
          <p:cNvPr id="2" name="Google Shape;289;p15">
            <a:extLst>
              <a:ext uri="{FF2B5EF4-FFF2-40B4-BE49-F238E27FC236}">
                <a16:creationId xmlns:a16="http://schemas.microsoft.com/office/drawing/2014/main" id="{BC095C4D-069C-9823-4773-EDD118B58D32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3" name="Google Shape;290;p15">
            <a:extLst>
              <a:ext uri="{FF2B5EF4-FFF2-40B4-BE49-F238E27FC236}">
                <a16:creationId xmlns:a16="http://schemas.microsoft.com/office/drawing/2014/main" id="{1BCBE0A8-34D5-BD38-9EC6-15CD23C6EE33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970988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31E36E9-A9C5-B909-8A54-8F19ECF7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42FB363-AE65-F218-E8BC-DA574C2C00C1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8F8730C7-A0D6-40F4-A4A8-3FCC3803E72C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F4F7A6A-7D9C-7C6D-9725-F718360C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790312"/>
              </p:ext>
            </p:extLst>
          </p:nvPr>
        </p:nvGraphicFramePr>
        <p:xfrm>
          <a:off x="587376" y="1352800"/>
          <a:ext cx="10533600" cy="381021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u="sng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0.9376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0.9408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0.9448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0.9443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0" i="0" u="sng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0.9867</a:t>
                      </a:r>
                      <a:endParaRPr lang="it-IT" sz="1100" b="0" i="0" u="sng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0.9359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0.9301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0.9886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0.9878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0.8934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0.9096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0.8700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0.8816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0.8893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0.8677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0.8754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0.8851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3" name="Google Shape;233;p12">
            <a:extLst>
              <a:ext uri="{FF2B5EF4-FFF2-40B4-BE49-F238E27FC236}">
                <a16:creationId xmlns:a16="http://schemas.microsoft.com/office/drawing/2014/main" id="{612F45C3-DD77-2DCE-E61F-B3EF4227ECB2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Results (on Test set)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5435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F60B2720-0382-89FF-5476-D22DCD91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E42E4416-16AE-4A22-03F2-DAE669E056AA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0AC3ADA8-099A-6646-078B-5FD025854C09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The problem with CDRSB, LDELTOTAL, and mPACCdigit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DD30056-BE80-E8CB-D699-469CA6774D18}"/>
              </a:ext>
            </a:extLst>
          </p:cNvPr>
          <p:cNvSpPr txBox="1"/>
          <p:nvPr/>
        </p:nvSpPr>
        <p:spPr>
          <a:xfrm>
            <a:off x="983512" y="1821948"/>
            <a:ext cx="10280873" cy="472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CDRSB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LDELTOTAL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mPACCdigit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cognitive scores show significantly higher predictive power than other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</a:t>
            </a:r>
            <a:r>
              <a:rPr lang="en-US" sz="2000" b="1" dirty="0"/>
              <a:t>Kruskal–Wallis </a:t>
            </a:r>
            <a:r>
              <a:rPr lang="en-US" sz="2000" dirty="0"/>
              <a:t>test confirms this pattern. The features show the largest group differences, indicating that they naturally dominate the separation between diagnostic classes.</a:t>
            </a: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improve model accuracy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but creates 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risk of feature dominance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where a few variables excessively influence predictions.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imbalance can cause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overfitting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excellent performance on ADNI but possible loss of accuracy on external or more heterogeneous populations.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It is not possible to definitively determine whether these variables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 simply very strong predictors of Alzheimer's disease diagnosis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divided the pipeline into datasets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without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B87F7374-8205-B4DB-98C9-02C9B6FB6673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64AB55E9-D0F8-2378-9010-4E843619F322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09476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89;p15">
            <a:extLst>
              <a:ext uri="{FF2B5EF4-FFF2-40B4-BE49-F238E27FC236}">
                <a16:creationId xmlns:a16="http://schemas.microsoft.com/office/drawing/2014/main" id="{85B5BE90-94A7-ED97-828F-62481FB36969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5" name="Google Shape;290;p15">
            <a:extLst>
              <a:ext uri="{FF2B5EF4-FFF2-40B4-BE49-F238E27FC236}">
                <a16:creationId xmlns:a16="http://schemas.microsoft.com/office/drawing/2014/main" id="{2DFD7AC6-B23E-8F89-E5E5-9E626693B9E6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50" name="Picture 2" descr="No description has been provided for this image">
            <a:extLst>
              <a:ext uri="{FF2B5EF4-FFF2-40B4-BE49-F238E27FC236}">
                <a16:creationId xmlns:a16="http://schemas.microsoft.com/office/drawing/2014/main" id="{D7FCA212-DAC7-523A-6495-CC5580242D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No description has been provided for this image">
            <a:extLst>
              <a:ext uri="{FF2B5EF4-FFF2-40B4-BE49-F238E27FC236}">
                <a16:creationId xmlns:a16="http://schemas.microsoft.com/office/drawing/2014/main" id="{1305918A-7335-D13C-6796-BE80D50D3FE4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o description has been provided for this image">
            <a:extLst>
              <a:ext uri="{FF2B5EF4-FFF2-40B4-BE49-F238E27FC236}">
                <a16:creationId xmlns:a16="http://schemas.microsoft.com/office/drawing/2014/main" id="{E6E1B67E-E8D2-7F3D-21DB-774810DACA6A}"/>
              </a:ext>
            </a:extLst>
          </p:cNvPr>
          <p:cNvPicPr>
            <a:picLocks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No description has been provided for this image">
            <a:extLst>
              <a:ext uri="{FF2B5EF4-FFF2-40B4-BE49-F238E27FC236}">
                <a16:creationId xmlns:a16="http://schemas.microsoft.com/office/drawing/2014/main" id="{866475AF-BDFC-EB5A-F56A-C9C92E0D046C}"/>
              </a:ext>
            </a:extLst>
          </p:cNvPr>
          <p:cNvPicPr>
            <a:picLocks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6000" y="887296"/>
            <a:ext cx="3024000" cy="59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423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843130B1-6E5B-15C5-DB76-394E30DA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550C47D-FD16-AA56-2D64-914200E24E2A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2632589C-C917-BEAE-8212-3BDB7234C99F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691E768-A538-B9DC-5AD0-CD3880EC0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602491"/>
              </p:ext>
            </p:extLst>
          </p:nvPr>
        </p:nvGraphicFramePr>
        <p:xfrm>
          <a:off x="587376" y="1352800"/>
          <a:ext cx="10533600" cy="411450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0.7112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0.7157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0.7316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0.7277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0.7245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0.9041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0.7075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0.7238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0.6829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0.6933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0.8921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0.6768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0.6736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0.8467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0.6543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0.8445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2" name="Google Shape;233;p12">
            <a:extLst>
              <a:ext uri="{FF2B5EF4-FFF2-40B4-BE49-F238E27FC236}">
                <a16:creationId xmlns:a16="http://schemas.microsoft.com/office/drawing/2014/main" id="{F556AEE6-6C98-9B91-D2FA-B4423280FBEA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Withou</a:t>
            </a:r>
            <a:r>
              <a:rPr lang="en-US" sz="32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 CDRSB, LDELTOTAL and </a:t>
            </a:r>
            <a:r>
              <a:rPr lang="en-US" sz="3200" b="1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mPACCdigit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13019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59B2A033-6D3D-4662-489F-8BA1506E3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72DEAB32-C34D-6CC0-E93C-08E375CBF4A9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E489BC91-2647-6AEA-1FCD-3BAF748898BC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Choosing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88A5CC29-E590-C4E8-9B52-7E7CEFDD1CE6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B823A998-6A32-960A-6D4D-54CAD58AC3A0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29EC672-9385-10F1-156D-AEE02F85F3C4}"/>
              </a:ext>
            </a:extLst>
          </p:cNvPr>
          <p:cNvSpPr txBox="1"/>
          <p:nvPr/>
        </p:nvSpPr>
        <p:spPr>
          <a:xfrm>
            <a:off x="503852" y="1875454"/>
            <a:ext cx="6904653" cy="372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CDRSB, LDELTOTAL, and mPACCdigit: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 model, due to the best metrics (Balanced 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ccuracy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F1, ROC-AUC).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CDRSB, LDELTOTAL,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mPACCdigit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en-US" sz="18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Adaptive_Boosting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XAI, based on testing performance.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saved models are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(alternative/Adaptive_ Boosting),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93481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00E9608-640B-06F7-2A11-5034B9B8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36DEB5C-9104-1E09-263C-2E6AD92ED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Applications &amp; Conclusions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71025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"/>
          <p:cNvSpPr txBox="1"/>
          <p:nvPr/>
        </p:nvSpPr>
        <p:spPr>
          <a:xfrm>
            <a:off x="596707" y="101406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66" name="Google Shape;166;p6"/>
          <p:cNvSpPr txBox="1"/>
          <p:nvPr/>
        </p:nvSpPr>
        <p:spPr>
          <a:xfrm>
            <a:off x="852885" y="101406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E64D7911-4188-F04B-262C-058ADE47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839" y="3803794"/>
            <a:ext cx="6094800" cy="305420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EED54E4-5367-C8FD-F299-2AA9AC96F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636" y="3803793"/>
            <a:ext cx="6077363" cy="3063371"/>
          </a:xfrm>
          <a:prstGeom prst="rect">
            <a:avLst/>
          </a:prstGeom>
        </p:spPr>
      </p:pic>
      <p:sp>
        <p:nvSpPr>
          <p:cNvPr id="18" name="Google Shape;220;p11">
            <a:extLst>
              <a:ext uri="{FF2B5EF4-FFF2-40B4-BE49-F238E27FC236}">
                <a16:creationId xmlns:a16="http://schemas.microsoft.com/office/drawing/2014/main" id="{0C1716D5-514A-DEBD-4DF7-23E40AE78892}"/>
              </a:ext>
            </a:extLst>
          </p:cNvPr>
          <p:cNvSpPr txBox="1"/>
          <p:nvPr/>
        </p:nvSpPr>
        <p:spPr>
          <a:xfrm>
            <a:off x="2589976" y="202742"/>
            <a:ext cx="6969970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</a:t>
            </a:r>
            <a:endParaRPr lang="en-US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8192B4C-6403-899D-032B-19647C1370F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-19839" y="885002"/>
            <a:ext cx="6094800" cy="28908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E5F58EC2-3B0D-8665-DA2D-51EF83A75C7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105917" y="885002"/>
            <a:ext cx="6094800" cy="2890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E07BC818-7725-A202-D8D4-D09DED40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E7FAA0AD-730A-FC37-8D26-5FAEDCC699F8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DEF4E4D0-F26E-FEF9-FDD0-3F5CD1B9F838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Conclusions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9731CB4E-7B6D-76AF-5F1A-6559E8D11057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145ADCF0-10F7-E032-3A6B-065E63218272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1AC99EC8-EA55-14AB-9069-D25BA7C5668E}"/>
              </a:ext>
            </a:extLst>
          </p:cNvPr>
          <p:cNvSpPr txBox="1"/>
          <p:nvPr/>
        </p:nvSpPr>
        <p:spPr>
          <a:xfrm>
            <a:off x="503852" y="1875454"/>
            <a:ext cx="6904653" cy="462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 limitations: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2,419 patients, many missing values ​​(CSF, PET), strong dependence on three cognitive scores. Risk of local overfitting, dataset bias, and imputations increasing noise. External validation required.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 Performance: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models perform well overall, especially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Furthermore,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easily interpretable.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the three features prove unpredictable in external validation,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 be used instead.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State of the Art: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Although it was not possible to make a precise state of the art due to the lack of similar studies, the statistics make it a solid project.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Application value: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as a support (screening, risk stratification), but obviously does not replace clinical evaluation.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Future developments: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Expand cohorts (ADNI4, external), integrate with similar datasets, and include geographic area as a feature. </a:t>
            </a:r>
          </a:p>
        </p:txBody>
      </p:sp>
    </p:spTree>
    <p:extLst>
      <p:ext uri="{BB962C8B-B14F-4D97-AF65-F5344CB8AC3E}">
        <p14:creationId xmlns:p14="http://schemas.microsoft.com/office/powerpoint/2010/main" val="755926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587375" y="316069"/>
            <a:ext cx="11017250" cy="180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buClr>
                <a:schemeClr val="dk2"/>
              </a:buClr>
              <a:buSzPts val="3200"/>
            </a:pPr>
            <a:r>
              <a:rPr lang="en-US" sz="54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Thanks for your attention!</a:t>
            </a:r>
            <a:endParaRPr lang="en-US" sz="7200" noProof="0" dirty="0"/>
          </a:p>
        </p:txBody>
      </p:sp>
      <p:pic>
        <p:nvPicPr>
          <p:cNvPr id="351" name="Google Shape;35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363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391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13422" y="202693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47325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1512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5294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3071391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58" name="Google Shape;358;p21"/>
          <p:cNvSpPr txBox="1"/>
          <p:nvPr/>
        </p:nvSpPr>
        <p:spPr>
          <a:xfrm>
            <a:off x="4705294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(lateral)</a:t>
            </a:r>
            <a:endParaRPr lang="en-US" noProof="0" dirty="0"/>
          </a:p>
        </p:txBody>
      </p:sp>
      <p:sp>
        <p:nvSpPr>
          <p:cNvPr id="359" name="Google Shape;359;p21"/>
          <p:cNvSpPr txBox="1"/>
          <p:nvPr/>
        </p:nvSpPr>
        <p:spPr>
          <a:xfrm>
            <a:off x="1437488" y="316993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(sagittal cut)</a:t>
            </a:r>
            <a:endParaRPr lang="en-US" noProof="0" dirty="0"/>
          </a:p>
        </p:txBody>
      </p:sp>
      <p:sp>
        <p:nvSpPr>
          <p:cNvPr id="360" name="Google Shape;360;p21"/>
          <p:cNvSpPr txBox="1"/>
          <p:nvPr/>
        </p:nvSpPr>
        <p:spPr>
          <a:xfrm>
            <a:off x="6252574" y="3169931"/>
            <a:ext cx="131624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Alzheimer’s</a:t>
            </a:r>
            <a:endParaRPr lang="en-US" noProof="0" dirty="0"/>
          </a:p>
        </p:txBody>
      </p:sp>
      <p:sp>
        <p:nvSpPr>
          <p:cNvPr id="361" name="Google Shape;361;p21"/>
          <p:cNvSpPr txBox="1"/>
          <p:nvPr/>
        </p:nvSpPr>
        <p:spPr>
          <a:xfrm>
            <a:off x="7886478" y="3169931"/>
            <a:ext cx="13162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regions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62" name="Google Shape;362;p21"/>
          <p:cNvSpPr txBox="1"/>
          <p:nvPr/>
        </p:nvSpPr>
        <p:spPr>
          <a:xfrm>
            <a:off x="9397261" y="3169931"/>
            <a:ext cx="15624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Amyloid-beta plaque</a:t>
            </a:r>
            <a:endParaRPr lang="en-US" noProof="0" dirty="0"/>
          </a:p>
        </p:txBody>
      </p:sp>
      <p:pic>
        <p:nvPicPr>
          <p:cNvPr id="363" name="Google Shape;36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57363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066284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471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1"/>
          <p:cNvSpPr txBox="1"/>
          <p:nvPr/>
        </p:nvSpPr>
        <p:spPr>
          <a:xfrm>
            <a:off x="1458156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Myelinated motor neuron</a:t>
            </a:r>
            <a:endParaRPr lang="en-US" noProof="0" dirty="0"/>
          </a:p>
        </p:txBody>
      </p:sp>
      <p:sp>
        <p:nvSpPr>
          <p:cNvPr id="367" name="Google Shape;367;p21"/>
          <p:cNvSpPr txBox="1"/>
          <p:nvPr/>
        </p:nvSpPr>
        <p:spPr>
          <a:xfrm>
            <a:off x="3092059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Degenerating motor neuron</a:t>
            </a:r>
            <a:endParaRPr lang="en-US" noProof="0" dirty="0"/>
          </a:p>
        </p:txBody>
      </p:sp>
      <p:sp>
        <p:nvSpPr>
          <p:cNvPr id="368" name="Google Shape;368;p21"/>
          <p:cNvSpPr txBox="1"/>
          <p:nvPr/>
        </p:nvSpPr>
        <p:spPr>
          <a:xfrm>
            <a:off x="472596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Microglia</a:t>
            </a:r>
            <a:endParaRPr lang="en-US" noProof="0" dirty="0"/>
          </a:p>
        </p:txBody>
      </p:sp>
      <p:pic>
        <p:nvPicPr>
          <p:cNvPr id="369" name="Google Shape;369;p2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0749" y="4186018"/>
            <a:ext cx="1252538" cy="1252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47325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11512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1"/>
          <p:cNvSpPr txBox="1"/>
          <p:nvPr/>
        </p:nvSpPr>
        <p:spPr>
          <a:xfrm>
            <a:off x="6284427" y="5311681"/>
            <a:ext cx="125253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Astrocyte</a:t>
            </a:r>
            <a:endParaRPr lang="en-US" noProof="0" dirty="0"/>
          </a:p>
        </p:txBody>
      </p:sp>
      <p:sp>
        <p:nvSpPr>
          <p:cNvPr id="373" name="Google Shape;373;p21"/>
          <p:cNvSpPr txBox="1"/>
          <p:nvPr/>
        </p:nvSpPr>
        <p:spPr>
          <a:xfrm>
            <a:off x="797310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Dynamic line neurons</a:t>
            </a:r>
            <a:endParaRPr lang="en-US" noProof="0" dirty="0"/>
          </a:p>
        </p:txBody>
      </p:sp>
      <p:sp>
        <p:nvSpPr>
          <p:cNvPr id="374" name="Google Shape;374;p21"/>
          <p:cNvSpPr txBox="1"/>
          <p:nvPr/>
        </p:nvSpPr>
        <p:spPr>
          <a:xfrm>
            <a:off x="9607001" y="5387159"/>
            <a:ext cx="114300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Synaptic cleft</a:t>
            </a:r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old Purple">
      <a:dk1>
        <a:srgbClr val="212121"/>
      </a:dk1>
      <a:lt1>
        <a:srgbClr val="FFFFFF"/>
      </a:lt1>
      <a:dk2>
        <a:srgbClr val="201171"/>
      </a:dk2>
      <a:lt2>
        <a:srgbClr val="D888D2"/>
      </a:lt2>
      <a:accent1>
        <a:srgbClr val="A1659C"/>
      </a:accent1>
      <a:accent2>
        <a:srgbClr val="9DCAD3"/>
      </a:accent2>
      <a:accent3>
        <a:srgbClr val="5896B5"/>
      </a:accent3>
      <a:accent4>
        <a:srgbClr val="0F9ED5"/>
      </a:accent4>
      <a:accent5>
        <a:srgbClr val="A02B93"/>
      </a:accent5>
      <a:accent6>
        <a:srgbClr val="4EA72E"/>
      </a:accent6>
      <a:hlink>
        <a:srgbClr val="986899"/>
      </a:hlink>
      <a:folHlink>
        <a:srgbClr val="23107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</TotalTime>
  <Words>2502</Words>
  <Application>Microsoft Office PowerPoint</Application>
  <PresentationFormat>Widescreen</PresentationFormat>
  <Paragraphs>456</Paragraphs>
  <Slides>30</Slides>
  <Notes>29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7" baseType="lpstr">
      <vt:lpstr>Courier New</vt:lpstr>
      <vt:lpstr>Roboto</vt:lpstr>
      <vt:lpstr>Calibri</vt:lpstr>
      <vt:lpstr>Play</vt:lpstr>
      <vt:lpstr>Arial</vt:lpstr>
      <vt:lpstr>Roboto Medium</vt:lpstr>
      <vt:lpstr>Office Theme</vt:lpstr>
      <vt:lpstr>Presentazione standard di PowerPoint</vt:lpstr>
      <vt:lpstr>Table of Contents</vt:lpstr>
      <vt:lpstr>Motivations and Clinical Background</vt:lpstr>
      <vt:lpstr>Presentazione standard di PowerPoint</vt:lpstr>
      <vt:lpstr>Presentazione standard di PowerPoint</vt:lpstr>
      <vt:lpstr>Dataset ADNI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Preprocessing</vt:lpstr>
      <vt:lpstr>Presentazione standard di PowerPoint</vt:lpstr>
      <vt:lpstr>Data Cleaning</vt:lpstr>
      <vt:lpstr>Presentazione standard di PowerPoint</vt:lpstr>
      <vt:lpstr>Presentazione standard di PowerPoint</vt:lpstr>
      <vt:lpstr>Classification &amp; Results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Applications &amp; Conclusions</vt:lpstr>
      <vt:lpstr>Presentazione standard di PowerPoint</vt:lpstr>
      <vt:lpstr>Presentazione standard di PowerPoint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Eunice Huang</dc:creator>
  <cp:lastModifiedBy>Francesco Panattoni</cp:lastModifiedBy>
  <cp:revision>106</cp:revision>
  <dcterms:created xsi:type="dcterms:W3CDTF">2024-05-22T15:10:34Z</dcterms:created>
  <dcterms:modified xsi:type="dcterms:W3CDTF">2025-11-19T20:20:57Z</dcterms:modified>
</cp:coreProperties>
</file>